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5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6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5c7c0fa7074a9c" /><Relationship Type="http://schemas.openxmlformats.org/officeDocument/2006/relationships/extended-properties" Target="/docProps/app.xml" Id="R28d076e8730143b2" /><Relationship Type="http://schemas.openxmlformats.org/officeDocument/2006/relationships/officeDocument" Target="/ppt/presentation.xml" Id="Rfd1864bd258a4b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335e51b8384dcf"/>
  </p:sldMasterIdLst>
  <p:notesMasterIdLst>
    <p:notesMasterId xmlns:r="http://schemas.openxmlformats.org/officeDocument/2006/relationships" r:id="R028583c355c2446d"/>
  </p:notesMasterIdLst>
  <p:sldIdLst>
    <p:sldId xmlns:r="http://schemas.openxmlformats.org/officeDocument/2006/relationships" id="256" r:id="R4f80bf7b8712443b"/>
    <p:sldId xmlns:r="http://schemas.openxmlformats.org/officeDocument/2006/relationships" id="257" r:id="R666cb4c964bc4531"/>
    <p:sldId xmlns:r="http://schemas.openxmlformats.org/officeDocument/2006/relationships" id="258" r:id="R436f0c6d21ab4095"/>
    <p:sldId xmlns:r="http://schemas.openxmlformats.org/officeDocument/2006/relationships" id="259" r:id="Re4d454349a354e87"/>
    <p:sldId xmlns:r="http://schemas.openxmlformats.org/officeDocument/2006/relationships" id="260" r:id="R8fd17750004048b9"/>
    <p:sldId xmlns:r="http://schemas.openxmlformats.org/officeDocument/2006/relationships" id="261" r:id="R271b2e213b744ee8"/>
    <p:sldId xmlns:r="http://schemas.openxmlformats.org/officeDocument/2006/relationships" id="262" r:id="R4e9fd5a8cdb54cba"/>
    <p:sldId xmlns:r="http://schemas.openxmlformats.org/officeDocument/2006/relationships" id="263" r:id="R0a5a9af990a9423c"/>
    <p:sldId xmlns:r="http://schemas.openxmlformats.org/officeDocument/2006/relationships" id="264" r:id="R00f6ea7b4ca74b1e"/>
    <p:sldId xmlns:r="http://schemas.openxmlformats.org/officeDocument/2006/relationships" id="265" r:id="R3bbd1d6bcc4a478b"/>
    <p:sldId xmlns:r="http://schemas.openxmlformats.org/officeDocument/2006/relationships" id="266" r:id="R2bc4107eac3447f4"/>
    <p:sldId xmlns:r="http://schemas.openxmlformats.org/officeDocument/2006/relationships" id="267" r:id="Ra5ccd7a6389845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9fd561d8b2413d" /><Relationship Type="http://schemas.openxmlformats.org/officeDocument/2006/relationships/slideMaster" Target="/ppt/slideMasters/slideMaster1.xml" Id="R15335e51b8384dcf" /><Relationship Type="http://schemas.openxmlformats.org/officeDocument/2006/relationships/notesMaster" Target="/ppt/notesMasters/notesMaster1.xml" Id="R028583c355c2446d" /><Relationship Type="http://schemas.openxmlformats.org/officeDocument/2006/relationships/presProps" Target="/ppt/presProps.xml" Id="R7e49b1af69364985" /><Relationship Type="http://schemas.openxmlformats.org/officeDocument/2006/relationships/tableStyles" Target="/ppt/tableStyles.xml" Id="Rf265be95dd364341" /><Relationship Type="http://schemas.openxmlformats.org/officeDocument/2006/relationships/slide" Target="/ppt/slides/slide1.xml" Id="R4f80bf7b8712443b" /><Relationship Type="http://schemas.openxmlformats.org/officeDocument/2006/relationships/slide" Target="/ppt/slides/slide2.xml" Id="R666cb4c964bc4531" /><Relationship Type="http://schemas.openxmlformats.org/officeDocument/2006/relationships/slide" Target="/ppt/slides/slide3.xml" Id="R436f0c6d21ab4095" /><Relationship Type="http://schemas.openxmlformats.org/officeDocument/2006/relationships/slide" Target="/ppt/slides/slide4.xml" Id="Re4d454349a354e87" /><Relationship Type="http://schemas.openxmlformats.org/officeDocument/2006/relationships/slide" Target="/ppt/slides/slide5.xml" Id="R8fd17750004048b9" /><Relationship Type="http://schemas.openxmlformats.org/officeDocument/2006/relationships/slide" Target="/ppt/slides/slide6.xml" Id="R271b2e213b744ee8" /><Relationship Type="http://schemas.openxmlformats.org/officeDocument/2006/relationships/slide" Target="/ppt/slides/slide7.xml" Id="R4e9fd5a8cdb54cba" /><Relationship Type="http://schemas.openxmlformats.org/officeDocument/2006/relationships/slide" Target="/ppt/slides/slide8.xml" Id="R0a5a9af990a9423c" /><Relationship Type="http://schemas.openxmlformats.org/officeDocument/2006/relationships/slide" Target="/ppt/slides/slide9.xml" Id="R00f6ea7b4ca74b1e" /><Relationship Type="http://schemas.openxmlformats.org/officeDocument/2006/relationships/slide" Target="/ppt/slides/slide10.xml" Id="R3bbd1d6bcc4a478b" /><Relationship Type="http://schemas.openxmlformats.org/officeDocument/2006/relationships/slide" Target="/ppt/slides/slide11.xml" Id="R2bc4107eac3447f4" /><Relationship Type="http://schemas.openxmlformats.org/officeDocument/2006/relationships/slide" Target="/ppt/slides/slide12.xml" Id="Ra5ccd7a6389845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fd973d6b8d42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be064a9ea345ef" /><Relationship Type="http://schemas.openxmlformats.org/officeDocument/2006/relationships/notesMaster" Target="/ppt/notesMasters/notesMaster1.xml" Id="Rf4cf84e498f946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8fd08ce39547f8" /><Relationship Type="http://schemas.openxmlformats.org/officeDocument/2006/relationships/notesMaster" Target="/ppt/notesMasters/notesMaster1.xml" Id="Rced7bc1fc30f45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c391401ca04787" /><Relationship Type="http://schemas.openxmlformats.org/officeDocument/2006/relationships/notesMaster" Target="/ppt/notesMasters/notesMaster1.xml" Id="Ra22a70ae868343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0f05c2814540af" /><Relationship Type="http://schemas.openxmlformats.org/officeDocument/2006/relationships/notesMaster" Target="/ppt/notesMasters/notesMaster1.xml" Id="Rb9a382193f064b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1d226418664327" /><Relationship Type="http://schemas.openxmlformats.org/officeDocument/2006/relationships/notesMaster" Target="/ppt/notesMasters/notesMaster1.xml" Id="Rcedf79afab4647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010d91f17e428a" /><Relationship Type="http://schemas.openxmlformats.org/officeDocument/2006/relationships/notesMaster" Target="/ppt/notesMasters/notesMaster1.xml" Id="Rf55534d1dd7c4a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9a15df757e4457" /><Relationship Type="http://schemas.openxmlformats.org/officeDocument/2006/relationships/notesMaster" Target="/ppt/notesMasters/notesMaster1.xml" Id="R7133027da3f44a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20371fc6644389" /><Relationship Type="http://schemas.openxmlformats.org/officeDocument/2006/relationships/notesMaster" Target="/ppt/notesMasters/notesMaster1.xml" Id="R008fd5228eb649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44385649ee46b9" /><Relationship Type="http://schemas.openxmlformats.org/officeDocument/2006/relationships/notesMaster" Target="/ppt/notesMasters/notesMaster1.xml" Id="Rb765f9679fdf4b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f312f5fecd943f0" /><Relationship Type="http://schemas.openxmlformats.org/officeDocument/2006/relationships/notesMaster" Target="/ppt/notesMasters/notesMaster1.xml" Id="R8a63fa8ce0e4416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996032febea4b9b" /><Relationship Type="http://schemas.openxmlformats.org/officeDocument/2006/relationships/notesMaster" Target="/ppt/notesMasters/notesMaster1.xml" Id="R97c970b954384b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8323ffc44f74864" /><Relationship Type="http://schemas.openxmlformats.org/officeDocument/2006/relationships/notesMaster" Target="/ppt/notesMasters/notesMaster1.xml" Id="R86c54ae6730d4b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decision boundary: Aurelia Bank is fictional; every bank record is synthetic; the platform prepares governed conversations and never completes a sale or approves credit.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queue is ready for controlled execution, not automated selling. Management should approve the commercial pilot and a risk-ranked KYC remediation stream as one programme.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https://www.eba.europa.eu/activities/single-rulebook/regulatory-activities/consumer-protection/guidelines-product-oversight-and-governance-arrangements-retail-banking-products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Emphasise the AND logic. The system reduces commercial noise by requiring evidence across all six lenses before an opportunity reaches the RM worklist.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architecture separates data preparation, modelling, economics and deterministic policy. Every consumer receives the same canonical results and decision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https://www.bis.org/publ/bcbs239.htm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synthetic population is intentionally heterogeneous across size and geography. No row represents a real company, person or bank relationship.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Champion selection is evidence-based but deliberately conservative. The nonlinear challenger is retained for monitoring; production adoption would require permissioned outcomes, drift controls and independent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Uplift is used to avoid spending RM time on customers likely to act anyway. Observed decile volatility is expected in a synthetic sample and reinforces the need for a controlled holdout.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from gross product economics through FTP-style funding, expected loss, capital and servicing. The final queue value is contact-uplift and activation-probability aware, not booked P&amp;L.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https://www.bis.org/bcbs/publ/d595.pdf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product mix is an output of the policy and economics, not a quota allocation. Product Governance should investigate concentration and maintain target-market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https://www.eba.europa.eu/activities/single-rulebook/regulatory-activities/consumer-protection/guidelines-product-oversight-and-governance-arrangements-retail-banking-products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funnel is expectation-based and should be recalibrated with pilot outcomes. Capacity is deliberately conservative so RMs can document need, suitability and non-sale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present controls as decorative monitoring. The KYC breach changes execution: affected needs cannot progress without the required human remediation and approvals.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accountable execution. The pilot should preserve a holdout, capture non-sale outcomes, clear KYC restrictions and prevent commercial scaling until independent model, conduct and Finance review is complete.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3856ae25eb46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98de0fd806410c" /><Relationship Type="http://schemas.openxmlformats.org/officeDocument/2006/relationships/slideLayout" Target="/ppt/slideLayouts/slideLayout1.xml" Id="Rf7b2aff189e34a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b2aff189e34a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6f1bc9e6aa4ffc" /><Relationship Type="http://schemas.openxmlformats.org/officeDocument/2006/relationships/notesSlide" Target="/ppt/notesSlides/notesSlide1.xml" Id="R752045b3e85940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8341a56804e13" /><Relationship Type="http://schemas.openxmlformats.org/officeDocument/2006/relationships/notesSlide" Target="/ppt/notesSlides/notesSlide2.xml" Id="Re4c4ce2f547a4b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d864e8d3f4135" /><Relationship Type="http://schemas.openxmlformats.org/officeDocument/2006/relationships/notesSlide" Target="/ppt/notesSlides/notesSlide3.xml" Id="Re11a91570f4f4e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58e2bc0b0a4556" /><Relationship Type="http://schemas.openxmlformats.org/officeDocument/2006/relationships/notesSlide" Target="/ppt/notesSlides/notesSlide4.xml" Id="R4fd2bfa8c96d4a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d36f6b6b46408d" /><Relationship Type="http://schemas.openxmlformats.org/officeDocument/2006/relationships/chart" Target="/ppt/slides/charts/chart1.xml" Id="R2dd96ccf68ef4526" /><Relationship Type="http://schemas.openxmlformats.org/officeDocument/2006/relationships/chart" Target="/ppt/slides/charts/chart2.xml" Id="R5a8050beee074c79" /><Relationship Type="http://schemas.openxmlformats.org/officeDocument/2006/relationships/notesSlide" Target="/ppt/notesSlides/notesSlide5.xml" Id="R9f61b178a103405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5b480ae8347da" /><Relationship Type="http://schemas.openxmlformats.org/officeDocument/2006/relationships/chart" Target="/ppt/slides/charts/chart3.xml" Id="Rfec2b1689b86424d" /><Relationship Type="http://schemas.openxmlformats.org/officeDocument/2006/relationships/notesSlide" Target="/ppt/notesSlides/notesSlide6.xml" Id="Rcfbb56cb4ea34d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7ba4a93124533" /><Relationship Type="http://schemas.openxmlformats.org/officeDocument/2006/relationships/chart" Target="/ppt/slides/charts/chart4.xml" Id="Rb01853b7f7f5448b" /><Relationship Type="http://schemas.openxmlformats.org/officeDocument/2006/relationships/notesSlide" Target="/ppt/notesSlides/notesSlide7.xml" Id="R7cdef9fd8ced48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44486250b543c2" /><Relationship Type="http://schemas.openxmlformats.org/officeDocument/2006/relationships/notesSlide" Target="/ppt/notesSlides/notesSlide8.xml" Id="Rc629e208e99b46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23703d3c694a5a" /><Relationship Type="http://schemas.openxmlformats.org/officeDocument/2006/relationships/chart" Target="/ppt/slides/charts/chart5.xml" Id="Rb52f0c7824c84a6e" /><Relationship Type="http://schemas.openxmlformats.org/officeDocument/2006/relationships/notesSlide" Target="/ppt/notesSlides/notesSlide9.xml" Id="R904c5396713b4ed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2246fffbaa449b" /><Relationship Type="http://schemas.openxmlformats.org/officeDocument/2006/relationships/chart" Target="/ppt/slides/charts/chart6.xml" Id="Rc1279869a1c048a8" /><Relationship Type="http://schemas.openxmlformats.org/officeDocument/2006/relationships/notesSlide" Target="/ppt/notesSlides/notesSlide10.xml" Id="Ra00e2b17bed94ee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912c9e01174d1d" /><Relationship Type="http://schemas.openxmlformats.org/officeDocument/2006/relationships/notesSlide" Target="/ppt/notesSlides/notesSlide11.xml" Id="R7ee5770f3ba0441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af9b3f02264579" /><Relationship Type="http://schemas.openxmlformats.org/officeDocument/2006/relationships/notesSlide" Target="/ppt/notesSlides/notesSlide12.xml" Id="R2572e8aecbad402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Customers</c:v>
          </c:tx>
          <c:spPr>
            <a:solidFill xmlns:a="http://schemas.openxmlformats.org/drawingml/2006/main">
              <a:srgbClr val="0B7285"/>
            </a:solidFill>
          </c:spPr>
          <c:dPt>
            <c:idx val="2"/>
            <c:invertIfNegative val="0"/>
            <c:spPr>
              <a:solidFill xmlns:a="http://schemas.openxmlformats.org/drawingml/2006/main">
                <a:srgbClr val="0B4F60"/>
              </a:solidFill>
            </c:spPr>
          </c:dPt>
          <c:cat>
            <c:strLit>
              <c:ptCount val="3"/>
              <c:pt idx="0">
                <c:v>Micro</c:v>
              </c:pt>
              <c:pt idx="1">
                <c:v>Small</c:v>
              </c:pt>
              <c:pt idx="2">
                <c:v>Medium</c:v>
              </c:pt>
            </c:strLit>
          </c:cat>
          <c:val>
            <c:numLit>
              <c:formatCode>General</c:formatCode>
              <c:ptCount val="3"/>
              <c:pt idx="0">
                <c:v>1593</c:v>
              </c:pt>
              <c:pt idx="1">
                <c:v>1197</c:v>
              </c:pt>
              <c:pt idx="2">
                <c:v>410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081F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81F3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5B677A"/>
                    </a:solidFill>
                  </a:rPr>
                  <a:t>Customers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5B677A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77A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Customers</c:v>
          </c:tx>
          <c:spPr>
            <a:solidFill xmlns:a="http://schemas.openxmlformats.org/drawingml/2006/main">
              <a:srgbClr val="30B8C5"/>
            </a:solidFill>
          </c:spPr>
          <c:cat>
            <c:strLit>
              <c:ptCount val="6"/>
              <c:pt idx="0">
                <c:v>Marmara</c:v>
              </c:pt>
              <c:pt idx="1">
                <c:v>Central Anatolia</c:v>
              </c:pt>
              <c:pt idx="2">
                <c:v>Aegean</c:v>
              </c:pt>
              <c:pt idx="3">
                <c:v>Mediterranean</c:v>
              </c:pt>
              <c:pt idx="4">
                <c:v>Black Sea</c:v>
              </c:pt>
              <c:pt idx="5">
                <c:v>Eastern</c:v>
              </c:pt>
            </c:strLit>
          </c:cat>
          <c:val>
            <c:numLit>
              <c:formatCode>General</c:formatCode>
              <c:ptCount val="6"/>
              <c:pt idx="0">
                <c:v>1100</c:v>
              </c:pt>
              <c:pt idx="1">
                <c:v>618</c:v>
              </c:pt>
              <c:pt idx="2">
                <c:v>479</c:v>
              </c:pt>
              <c:pt idx="3">
                <c:v>412</c:v>
              </c:pt>
              <c:pt idx="4">
                <c:v>323</c:v>
              </c:pt>
              <c:pt idx="5">
                <c:v>268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81F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77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81F33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Logistic champion</c:v>
          </c:tx>
          <c:spPr>
            <a:solidFill xmlns:a="http://schemas.openxmlformats.org/drawingml/2006/main">
              <a:srgbClr val="0B7285"/>
            </a:solidFill>
          </c:spPr>
          <c:cat>
            <c:strLit>
              <c:ptCount val="3"/>
              <c:pt idx="0">
                <c:v>ROC AUC</c:v>
              </c:pt>
              <c:pt idx="1">
                <c:v>PR AUC</c:v>
              </c:pt>
              <c:pt idx="2">
                <c:v>1 − Brier</c:v>
              </c:pt>
            </c:strLit>
          </c:cat>
          <c:val>
            <c:numLit>
              <c:formatCode>General</c:formatCode>
              <c:ptCount val="3"/>
              <c:pt idx="0">
                <c:v>71.53</c:v>
              </c:pt>
              <c:pt idx="1">
                <c:v>49.45</c:v>
              </c:pt>
              <c:pt idx="2">
                <c:v>81.8</c:v>
              </c:pt>
            </c:numLit>
          </c:val>
        </c:ser>
        <c:ser>
          <c:idx val="1"/>
          <c:order val="1"/>
          <c:tx>
            <c:v>Histogram GB challenger</c:v>
          </c:tx>
          <c:spPr>
            <a:solidFill xmlns:a="http://schemas.openxmlformats.org/drawingml/2006/main">
              <a:srgbClr val="30B8C5"/>
            </a:solidFill>
          </c:spPr>
          <c:cat>
            <c:strLit>
              <c:ptCount val="3"/>
              <c:pt idx="0">
                <c:v>ROC AUC</c:v>
              </c:pt>
              <c:pt idx="1">
                <c:v>PR AUC</c:v>
              </c:pt>
              <c:pt idx="2">
                <c:v>1 − Brier</c:v>
              </c:pt>
            </c:strLit>
          </c:cat>
          <c:val>
            <c:numLit>
              <c:formatCode>General</c:formatCode>
              <c:ptCount val="3"/>
              <c:pt idx="0">
                <c:v>71.47</c:v>
              </c:pt>
              <c:pt idx="1">
                <c:v>49.18</c:v>
              </c:pt>
              <c:pt idx="2">
                <c:v>81.77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081F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81F3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5B677A"/>
                    </a:solidFill>
                  </a:rPr>
                  <a:t>Percent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5B677A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77A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5B677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Predicted uplift</c:v>
          </c:tx>
          <c:spPr>
            <a:solidFill xmlns:a="http://schemas.openxmlformats.org/drawingml/2006/main">
              <a:srgbClr val="0B7285"/>
            </a:solidFill>
            <a:ln xmlns:a="http://schemas.openxmlformats.org/drawingml/2006/main" w="28575">
              <a:solidFill>
                <a:srgbClr val="0B7285"/>
              </a:solidFill>
              <a:prstDash val="solid"/>
            </a:ln>
          </c:spPr>
          <c:marker>
            <c:symbol val="none"/>
          </c:marker>
          <c:cat>
            <c:strLit>
              <c:ptCount val="10"/>
              <c:pt idx="0">
                <c:v>D1</c:v>
              </c:pt>
              <c:pt idx="1">
                <c:v>D2</c:v>
              </c:pt>
              <c:pt idx="2">
                <c:v>D3</c:v>
              </c:pt>
              <c:pt idx="3">
                <c:v>D4</c:v>
              </c:pt>
              <c:pt idx="4">
                <c:v>D5</c:v>
              </c:pt>
              <c:pt idx="5">
                <c:v>D6</c:v>
              </c:pt>
              <c:pt idx="6">
                <c:v>D7</c:v>
              </c:pt>
              <c:pt idx="7">
                <c:v>D8</c:v>
              </c:pt>
              <c:pt idx="8">
                <c:v>D9</c:v>
              </c:pt>
              <c:pt idx="9">
                <c:v>D10</c:v>
              </c:pt>
            </c:strLit>
          </c:cat>
          <c:val>
            <c:numLit>
              <c:formatCode>General</c:formatCode>
              <c:ptCount val="10"/>
              <c:pt idx="0">
                <c:v>14.313799999999999</c:v>
              </c:pt>
              <c:pt idx="1">
                <c:v>10.1221</c:v>
              </c:pt>
              <c:pt idx="2">
                <c:v>7.8029</c:v>
              </c:pt>
              <c:pt idx="3">
                <c:v>6.1929</c:v>
              </c:pt>
              <c:pt idx="4">
                <c:v>4.9218</c:v>
              </c:pt>
              <c:pt idx="5">
                <c:v>3.8536</c:v>
              </c:pt>
              <c:pt idx="6">
                <c:v>2.8287</c:v>
              </c:pt>
              <c:pt idx="7">
                <c:v>1.7742</c:v>
              </c:pt>
              <c:pt idx="8">
                <c:v>0.5025</c:v>
              </c:pt>
              <c:pt idx="9">
                <c:v>-2.6870000000000003</c:v>
              </c:pt>
            </c:numLit>
          </c:val>
        </c:ser>
        <c:ser>
          <c:idx val="1"/>
          <c:order val="1"/>
          <c:tx>
            <c:v>Observed incremental</c:v>
          </c:tx>
          <c:spPr>
            <a:solidFill xmlns:a="http://schemas.openxmlformats.org/drawingml/2006/main">
              <a:srgbClr val="D97706"/>
            </a:solidFill>
            <a:ln xmlns:a="http://schemas.openxmlformats.org/drawingml/2006/main" w="19050">
              <a:solidFill>
                <a:srgbClr val="D97706"/>
              </a:solidFill>
              <a:prstDash val="solid"/>
            </a:ln>
          </c:spPr>
          <c:marker>
            <c:symbol val="none"/>
          </c:marker>
          <c:cat>
            <c:strLit>
              <c:ptCount val="10"/>
              <c:pt idx="0">
                <c:v>D1</c:v>
              </c:pt>
              <c:pt idx="1">
                <c:v>D2</c:v>
              </c:pt>
              <c:pt idx="2">
                <c:v>D3</c:v>
              </c:pt>
              <c:pt idx="3">
                <c:v>D4</c:v>
              </c:pt>
              <c:pt idx="4">
                <c:v>D5</c:v>
              </c:pt>
              <c:pt idx="5">
                <c:v>D6</c:v>
              </c:pt>
              <c:pt idx="6">
                <c:v>D7</c:v>
              </c:pt>
              <c:pt idx="7">
                <c:v>D8</c:v>
              </c:pt>
              <c:pt idx="8">
                <c:v>D9</c:v>
              </c:pt>
              <c:pt idx="9">
                <c:v>D10</c:v>
              </c:pt>
            </c:strLit>
          </c:cat>
          <c:val>
            <c:numLit>
              <c:formatCode>General</c:formatCode>
              <c:ptCount val="10"/>
              <c:pt idx="0">
                <c:v>6.340700000000001</c:v>
              </c:pt>
              <c:pt idx="1">
                <c:v>10.9208</c:v>
              </c:pt>
              <c:pt idx="2">
                <c:v>8.3965</c:v>
              </c:pt>
              <c:pt idx="3">
                <c:v>9.3045</c:v>
              </c:pt>
              <c:pt idx="4">
                <c:v>8.759599999999999</c:v>
              </c:pt>
              <c:pt idx="5">
                <c:v>12.1294</c:v>
              </c:pt>
              <c:pt idx="6">
                <c:v>1.672</c:v>
              </c:pt>
              <c:pt idx="7">
                <c:v>8.0586</c:v>
              </c:pt>
              <c:pt idx="8">
                <c:v>1.2639</c:v>
              </c:pt>
              <c:pt idx="9">
                <c:v>2.762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5B677A"/>
                    </a:solidFill>
                  </a:rPr>
                  <a:t>Uplift decile (highest first)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5B677A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81F3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5B677A"/>
                    </a:solidFill>
                  </a:rPr>
                  <a:t>Incremental activation, %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5B677A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77A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B677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Expected profit (TRY m)</c:v>
          </c:tx>
          <c:spPr>
            <a:solidFill xmlns:a="http://schemas.openxmlformats.org/drawingml/2006/main">
              <a:srgbClr val="0B7285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0B4F60"/>
              </a:solidFill>
            </c:spPr>
          </c:dPt>
          <c:cat>
            <c:strLit>
              <c:ptCount val="7"/>
              <c:pt idx="0">
                <c:v>Cash Management</c:v>
              </c:pt>
              <c:pt idx="1">
                <c:v>Payroll Services</c:v>
              </c:pt>
              <c:pt idx="2">
                <c:v>POS &amp; Merchant Acquiring</c:v>
              </c:pt>
              <c:pt idx="3">
                <c:v>FX Risk Management</c:v>
              </c:pt>
              <c:pt idx="4">
                <c:v>Business Credit Card</c:v>
              </c:pt>
              <c:pt idx="5">
                <c:v>Term Deposit</c:v>
              </c:pt>
              <c:pt idx="6">
                <c:v>Working Capital Loan</c:v>
              </c:pt>
            </c:strLit>
          </c:cat>
          <c:val>
            <c:numLit>
              <c:formatCode>General</c:formatCode>
              <c:ptCount val="7"/>
              <c:pt idx="0">
                <c:v>11.02699749</c:v>
              </c:pt>
              <c:pt idx="1">
                <c:v>2.8813462999999997</c:v>
              </c:pt>
              <c:pt idx="2">
                <c:v>2.64000447</c:v>
              </c:pt>
              <c:pt idx="3">
                <c:v>0.11365929</c:v>
              </c:pt>
              <c:pt idx="4">
                <c:v>0.06872908999999999</c:v>
              </c:pt>
              <c:pt idx="5">
                <c:v>0.00384229</c:v>
              </c:pt>
              <c:pt idx="6">
                <c:v>0.00321604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081F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5B677A"/>
                    </a:solidFill>
                  </a:rPr>
                  <a:t>Expected incremental profit, TRY 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5B677A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77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81F33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Expected count</c:v>
          </c:tx>
          <c:spPr>
            <a:solidFill xmlns:a="http://schemas.openxmlformats.org/drawingml/2006/main">
              <a:srgbClr val="0B7285"/>
            </a:solidFill>
          </c:spPr>
          <c:dPt>
            <c:idx val="4"/>
            <c:invertIfNegative val="0"/>
            <c:spPr>
              <a:solidFill xmlns:a="http://schemas.openxmlformats.org/drawingml/2006/main">
                <a:srgbClr val="15803D"/>
              </a:solidFill>
            </c:spPr>
          </c:dPt>
          <c:cat>
            <c:strLit>
              <c:ptCount val="5"/>
              <c:pt idx="0">
                <c:v>conversations</c:v>
              </c:pt>
              <c:pt idx="1">
                <c:v>contacts</c:v>
              </c:pt>
              <c:pt idx="2">
                <c:v>qualified needs</c:v>
              </c:pt>
              <c:pt idx="3">
                <c:v>proposals</c:v>
              </c:pt>
              <c:pt idx="4">
                <c:v>activations</c:v>
              </c:pt>
            </c:strLit>
          </c:cat>
          <c:val>
            <c:numLit>
              <c:formatCode>General</c:formatCode>
              <c:ptCount val="5"/>
              <c:pt idx="0">
                <c:v>661</c:v>
              </c:pt>
              <c:pt idx="1">
                <c:v>568</c:v>
              </c:pt>
              <c:pt idx="2">
                <c:v>383</c:v>
              </c:pt>
              <c:pt idx="3">
                <c:v>258</c:v>
              </c:pt>
              <c:pt idx="4">
                <c:v>109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081F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81F3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77A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68FD5A-1E04-4D97-9877-37404D05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B7285"/>
                </a:solidFill>
              </a:defRPr>
            </a:pPr>
            <a:r>
              <a:rPr sz="1125" b="1" i="0">
                <a:solidFill>
                  <a:srgbClr val="0B7285"/>
                </a:solidFill>
              </a:rPr>
              <a:t>EXECUTIVE DECISION PACK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5D1C78-973F-4429-8531-BFF2D62A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B473B2-AB6E-4FAB-A682-6E9005A4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275" b="1" i="0">
                <a:solidFill>
                  <a:srgbClr val="081F33"/>
                </a:solidFill>
              </a:defRPr>
            </a:pPr>
            <a:r>
              <a:rPr sz="4275" b="1" i="0">
                <a:solidFill>
                  <a:srgbClr val="081F33"/>
                </a:solidFill>
              </a:rPr>
              <a:t>SME Relationship &amp; Sales</a:t>
            </a:r>
          </a:p>
          <a:p xmlns:a="http://schemas.openxmlformats.org/drawingml/2006/main">
            <a:pPr algn="l">
              <a:defRPr sz="4275" b="1" i="0">
                <a:solidFill>
                  <a:srgbClr val="081F33"/>
                </a:solidFill>
              </a:defRPr>
            </a:pPr>
            <a:r>
              <a:rPr sz="4275" b="1" i="0">
                <a:solidFill>
                  <a:srgbClr val="081F33"/>
                </a:solidFill>
              </a:rPr>
              <a:t>Intelligence Control Tower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41664A-B40B-442E-AECF-E4D050C2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B677A"/>
                </a:solidFill>
              </a:defRPr>
            </a:pPr>
            <a:r>
              <a:rPr sz="1800" b="0" i="0">
                <a:solidFill>
                  <a:srgbClr val="5B677A"/>
                </a:solidFill>
              </a:rPr>
              <a:t>Customer 360, uplift, risk-adjusted economics and human-led next-best conversations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162E96-95BF-447E-B7F0-6B0B9E5B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66850"/>
            <a:ext cx="348615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B33A5-C194-4FD6-B0FD-988DD64A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66850"/>
            <a:ext cx="13335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C7BF02-ACF0-4B5E-A069-DD088217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050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CFDAEB-EA8B-4EF7-B470-88BD00BC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19350"/>
            <a:ext cx="59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360°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555F6F-959E-4423-9421-A4127F20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050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044CF4-2AFB-49A7-8BB7-95A5F60D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19350"/>
            <a:ext cx="59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C1368B-30AD-479F-A4E2-210FFE2F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3050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B8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A07FBB-1422-4ECB-83BC-8D4C9993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419350"/>
            <a:ext cx="59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TRY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C044DD-95A2-4E16-8395-55BA4214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337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81F33"/>
                </a:solidFill>
              </a:defRPr>
            </a:pPr>
            <a:r>
              <a:rPr sz="1275" b="1" i="0">
                <a:solidFill>
                  <a:srgbClr val="081F33"/>
                </a:solidFill>
              </a:rPr>
              <a:t>NEED  →  VALUE  →  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1A08E9-C04B-43F3-9746-5277E43F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71950"/>
            <a:ext cx="2667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8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9A956F-5365-4EF3-94F4-FE5688E7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00525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HUMAN-LED DECISION SUPPORT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45756F-AFDB-4B46-9A45-DEB116B6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77A"/>
                </a:solidFill>
              </a:defRPr>
            </a:pPr>
            <a:r>
              <a:rPr sz="1200" b="0" i="0">
                <a:solidFill>
                  <a:srgbClr val="5B677A"/>
                </a:solidFill>
              </a:rPr>
              <a:t>Prepared by Murat Miraç Gedik | Portfolio demonstration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942F16-8B66-454B-9681-46F75DF7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772150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081F33"/>
                </a:solidFill>
              </a:defRPr>
            </a:pPr>
            <a:r>
              <a:rPr sz="1200" b="1" i="0">
                <a:solidFill>
                  <a:srgbClr val="081F33"/>
                </a:solidFill>
              </a:rPr>
              <a:t>20 AUG 2026</a:t>
            </a:r>
          </a:p>
        </p:txBody>
      </p:sp>
    </p:spTree>
    <p:extLst>
      <p:ext uri="{BB962C8B-B14F-4D97-AF65-F5344CB8AC3E}">
        <p14:creationId xmlns:p14="http://schemas.microsoft.com/office/powerpoint/2010/main" val="10374035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EE0981-A9A4-4235-ABAC-E66DC81F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77A"/>
                </a:solidFill>
              </a:defRPr>
            </a:pPr>
            <a:r>
              <a:rPr sz="975" b="1" i="0">
                <a:solidFill>
                  <a:srgbClr val="5B677A"/>
                </a:solidFill>
              </a:rPr>
              <a:t>AURELIA BANK | SME RELATIONSHIP &amp; SALES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108D21-FD08-485C-B2BF-AADB5B00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B677A"/>
                </a:solidFill>
              </a:defRPr>
            </a:pPr>
            <a:r>
              <a:rPr sz="975" b="1" i="0">
                <a:solidFill>
                  <a:srgbClr val="5B677A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696167-A6D0-4B3A-A7E7-2A7B3695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8C9B2D-E139-4C19-945E-C08159C9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77A"/>
                </a:solidFill>
              </a:defRPr>
            </a:pPr>
            <a:r>
              <a:rPr sz="825" b="0" i="0">
                <a:solidFill>
                  <a:srgbClr val="5B677A"/>
                </a:solidFill>
              </a:rPr>
              <a:t>Source: verified deterministic analytical snapshot; internal management parameters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250A43-753C-484A-8A39-B189E8E9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B677A"/>
                </a:solidFill>
              </a:defRPr>
            </a:pPr>
            <a:r>
              <a:rPr sz="825" b="0" i="0">
                <a:solidFill>
                  <a:srgbClr val="5B677A"/>
                </a:solidFill>
              </a:rPr>
              <a:t>20 AUG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53D780-E118-4E38-8F7D-F28402E5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81F33"/>
                </a:solidFill>
              </a:defRPr>
            </a:pPr>
            <a:r>
              <a:rPr sz="2925" b="1" i="0">
                <a:solidFill>
                  <a:srgbClr val="081F33"/>
                </a:solidFill>
              </a:rPr>
              <a:t>Launch the queue—pair it with KYC remediation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79517-585E-436C-BB6E-121454BF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77A"/>
                </a:solidFill>
              </a:defRPr>
            </a:pPr>
            <a:r>
              <a:rPr sz="1350" b="0" i="0">
                <a:solidFill>
                  <a:srgbClr val="5B677A"/>
                </a:solidFill>
              </a:rPr>
              <a:t>Commercial value is material, model controls pass and RM capacity is available; one conduct prerequisite is breached.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1BD58D-96FF-4D6F-94C0-0C59D7BB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2766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87CAF7-EF33-4598-A453-612993BE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2819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5803D"/>
                </a:solidFill>
              </a:defRPr>
            </a:pPr>
            <a:r>
              <a:rPr sz="2925" b="1" i="0">
                <a:solidFill>
                  <a:srgbClr val="15803D"/>
                </a:solidFill>
              </a:rPr>
              <a:t>661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B28482-46D8-45E5-89D0-1E4AC9A4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81F33"/>
                </a:solidFill>
              </a:defRPr>
            </a:pPr>
            <a:r>
              <a:rPr sz="1425" b="1" i="0">
                <a:solidFill>
                  <a:srgbClr val="081F33"/>
                </a:solidFill>
              </a:rPr>
              <a:t>Prioritised conversations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013D7D-AEEE-4B7C-8765-F5F906E4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5CFE24-5602-4967-89F9-BEB4D96E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71825"/>
            <a:ext cx="2819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77A"/>
                </a:solidFill>
              </a:defRPr>
            </a:pPr>
            <a:r>
              <a:rPr sz="1125" b="0" i="0">
                <a:solidFill>
                  <a:srgbClr val="5B677A"/>
                </a:solidFill>
              </a:rPr>
              <a:t>All pass permission, product, risk, profitability and capacity gates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8842DB-0488-49C7-A2B8-F415A964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62150"/>
            <a:ext cx="32766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1B3ED2-B6AD-425C-B7A7-DC3F8C82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33600"/>
            <a:ext cx="2819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5803D"/>
                </a:solidFill>
              </a:defRPr>
            </a:pPr>
            <a:r>
              <a:rPr sz="2925" b="1" i="0">
                <a:solidFill>
                  <a:srgbClr val="15803D"/>
                </a:solidFill>
              </a:rPr>
              <a:t>TRY 16.7m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E4E74E-75C0-4E60-A775-83B2E7AE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860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81F33"/>
                </a:solidFill>
              </a:defRPr>
            </a:pPr>
            <a:r>
              <a:rPr sz="1425" b="1" i="0">
                <a:solidFill>
                  <a:srgbClr val="081F33"/>
                </a:solidFill>
              </a:rPr>
              <a:t>Expected incremental profit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956B70-5DF3-4ED2-A408-7436507F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67050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74801E-773C-4587-AE87-EEB3682C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71825"/>
            <a:ext cx="2819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77A"/>
                </a:solidFill>
              </a:defRPr>
            </a:pPr>
            <a:r>
              <a:rPr sz="1125" b="0" i="0">
                <a:solidFill>
                  <a:srgbClr val="5B677A"/>
                </a:solidFill>
              </a:rPr>
              <a:t>First-year, probability-weighted and risk-adjusted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F4E293-089C-471F-9803-BCEE930C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62150"/>
            <a:ext cx="32766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918FF6-EAB6-4613-B549-94AD0FCD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33600"/>
            <a:ext cx="2819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C2413B"/>
                </a:solidFill>
              </a:defRPr>
            </a:pPr>
            <a:r>
              <a:rPr sz="2925" b="1" i="0">
                <a:solidFill>
                  <a:srgbClr val="C2413B"/>
                </a:solidFill>
              </a:rPr>
              <a:t>38.1%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3B2CCF-83BC-438C-BEC0-A9505AD2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860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81F33"/>
                </a:solidFill>
              </a:defRPr>
            </a:pPr>
            <a:r>
              <a:rPr sz="1425" b="1" i="0">
                <a:solidFill>
                  <a:srgbClr val="081F33"/>
                </a:solidFill>
              </a:rPr>
              <a:t>KYC reviews overdue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E33B23-8423-4560-943D-4E0E9C34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67050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EB3EE3-5805-4C06-8D69-245841DD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71825"/>
            <a:ext cx="2819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77A"/>
                </a:solidFill>
              </a:defRPr>
            </a:pPr>
            <a:r>
              <a:rPr sz="1125" b="0" i="0">
                <a:solidFill>
                  <a:srgbClr val="5B677A"/>
                </a:solidFill>
              </a:rPr>
              <a:t>Above the 30% internal management ceiling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C347BE-A27F-4328-AB63-296DE9EA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08204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10BE6F-FDC9-4B57-B7E9-A46268EF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529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0B8C5"/>
                </a:solidFill>
              </a:defRPr>
            </a:pPr>
            <a:r>
              <a:rPr sz="1050" b="1" i="0">
                <a:solidFill>
                  <a:srgbClr val="30B8C5"/>
                </a:solidFill>
              </a:rPr>
              <a:t>DECISION REQUIRED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C1AF4A-3BB3-48DB-B002-31841230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10134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Approve a controlled RM launch; clear overdue KYC by risk and service urgency before converting affected needs into proposals.</a:t>
            </a:r>
          </a:p>
        </p:txBody>
      </p:sp>
    </p:spTree>
    <p:extLst>
      <p:ext uri="{BB962C8B-B14F-4D97-AF65-F5344CB8AC3E}">
        <p14:creationId xmlns:p14="http://schemas.microsoft.com/office/powerpoint/2010/main" val="5190762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C38D88-B994-414B-9BF8-9503355E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77A"/>
                </a:solidFill>
              </a:defRPr>
            </a:pPr>
            <a:r>
              <a:rPr sz="975" b="1" i="0">
                <a:solidFill>
                  <a:srgbClr val="5B677A"/>
                </a:solidFill>
              </a:rPr>
              <a:t>AURELIA BANK | SME RELATIONSHIP &amp; SALES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4763DD-1C4E-4DBD-8BCE-4D3305AA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B677A"/>
                </a:solidFill>
              </a:defRPr>
            </a:pPr>
            <a:r>
              <a:rPr sz="975" b="1" i="0">
                <a:solidFill>
                  <a:srgbClr val="5B677A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A3A5F0-3E30-4170-B781-D9B5AFD6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788A4E-C7C3-444B-A1BF-0C5BAEBE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77A"/>
                </a:solidFill>
              </a:defRPr>
            </a:pPr>
            <a:r>
              <a:rPr sz="825" b="0" i="0">
                <a:solidFill>
                  <a:srgbClr val="5B677A"/>
                </a:solidFill>
              </a:rPr>
              <a:t>Source: project methodology and governed decision policy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9BABB9-ABEE-4144-ACD2-7F2C2E27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B677A"/>
                </a:solidFill>
              </a:defRPr>
            </a:pPr>
            <a:r>
              <a:rPr sz="825" b="0" i="0">
                <a:solidFill>
                  <a:srgbClr val="5B677A"/>
                </a:solidFill>
              </a:rPr>
              <a:t>20 AUG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91F209-6DC8-461D-8DE5-AA28B913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81F33"/>
                </a:solidFill>
              </a:defRPr>
            </a:pPr>
            <a:r>
              <a:rPr sz="2925" b="1" i="0">
                <a:solidFill>
                  <a:srgbClr val="081F33"/>
                </a:solidFill>
              </a:rPr>
              <a:t>Six lenses turn activity into a defensible conversation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BE25BB-C640-44CD-A416-C9CDE2DC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77A"/>
                </a:solidFill>
              </a:defRPr>
            </a:pPr>
            <a:r>
              <a:rPr sz="1350" b="0" i="0">
                <a:solidFill>
                  <a:srgbClr val="5B677A"/>
                </a:solidFill>
              </a:rPr>
              <a:t>A high propensity alone is insufficient; need, incrementality, economics, policy and capacity must agree.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34495C-0868-437A-BE10-42F2F3EB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77A"/>
                </a:solidFill>
              </a:defRPr>
            </a:pPr>
            <a:r>
              <a:rPr sz="975" b="1" i="0">
                <a:solidFill>
                  <a:srgbClr val="5B677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E092D-7529-4449-9137-184858EF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5240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0C3B3E-4A50-4AE9-BC64-F1A53A71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B7285"/>
                </a:solidFill>
              </a:defRPr>
            </a:pPr>
            <a:r>
              <a:rPr sz="1125" b="1" i="0">
                <a:solidFill>
                  <a:srgbClr val="0B7285"/>
                </a:solidFill>
              </a:rPr>
              <a:t>CUSTOMER 360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28B8D3-3EFF-4113-85BD-38F5B654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118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A8FDFB-DEA9-450D-9593-4D453052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1181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81F33"/>
                </a:solidFill>
              </a:defRPr>
            </a:pPr>
            <a:r>
              <a:rPr sz="1350" b="1" i="0">
                <a:solidFill>
                  <a:srgbClr val="081F33"/>
                </a:solidFill>
              </a:rPr>
              <a:t>Relationship depth</a:t>
            </a:r>
          </a:p>
          <a:p xmlns:a="http://schemas.openxmlformats.org/drawingml/2006/main">
            <a:pPr algn="ctr">
              <a:defRPr sz="1350" b="1" i="0">
                <a:solidFill>
                  <a:srgbClr val="081F33"/>
                </a:solidFill>
              </a:defRPr>
            </a:pPr>
            <a:r>
              <a:rPr sz="1350" b="1" i="0">
                <a:solidFill>
                  <a:srgbClr val="081F33"/>
                </a:solidFill>
              </a:rPr>
              <a:t>and observable flows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631FD6-10D3-41EA-A176-DC8EB021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962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77A"/>
                </a:solidFill>
              </a:defRPr>
            </a:pPr>
            <a:r>
              <a:rPr sz="975" b="1" i="0">
                <a:solidFill>
                  <a:srgbClr val="5B677A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F91AC2-E52A-40E9-A72F-6D1CF03A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305050"/>
            <a:ext cx="15240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8F163F-733E-4A83-9B64-98627E8F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5336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B7285"/>
                </a:solidFill>
              </a:defRPr>
            </a:pPr>
            <a:r>
              <a:rPr sz="1125" b="1" i="0">
                <a:solidFill>
                  <a:srgbClr val="0B7285"/>
                </a:solidFill>
              </a:rPr>
              <a:t>NEED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E24C40-E7E7-49B0-A525-7FD22627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028950"/>
            <a:ext cx="118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C25EC8-32C4-4A17-8EFE-4B28B3FA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257550"/>
            <a:ext cx="1181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81F33"/>
                </a:solidFill>
              </a:defRPr>
            </a:pPr>
            <a:r>
              <a:rPr sz="1350" b="1" i="0">
                <a:solidFill>
                  <a:srgbClr val="081F33"/>
                </a:solidFill>
              </a:rPr>
              <a:t>Product-specific</a:t>
            </a:r>
          </a:p>
          <a:p xmlns:a="http://schemas.openxmlformats.org/drawingml/2006/main">
            <a:pPr algn="ctr">
              <a:defRPr sz="1350" b="1" i="0">
                <a:solidFill>
                  <a:srgbClr val="081F33"/>
                </a:solidFill>
              </a:defRPr>
            </a:pPr>
            <a:r>
              <a:rPr sz="1350" b="1" i="0">
                <a:solidFill>
                  <a:srgbClr val="081F33"/>
                </a:solidFill>
              </a:rPr>
              <a:t>behavioural signal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478A95-F25B-4C7A-A3B8-F86A3FB3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62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77A"/>
                </a:solidFill>
              </a:defRPr>
            </a:pPr>
            <a:r>
              <a:rPr sz="975" b="1" i="0">
                <a:solidFill>
                  <a:srgbClr val="5B677A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315399-F2F2-438D-BC84-02E9FC12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05050"/>
            <a:ext cx="15240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53FA9C-D41E-45F2-ABAD-63E1A224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336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B7285"/>
                </a:solidFill>
              </a:defRPr>
            </a:pPr>
            <a:r>
              <a:rPr sz="1125" b="1" i="0">
                <a:solidFill>
                  <a:srgbClr val="0B7285"/>
                </a:solidFill>
              </a:rPr>
              <a:t>PROPENSITY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05AEFB-3B35-47BD-B287-AB552ABB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28950"/>
            <a:ext cx="118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0C5FC9-38AD-44A2-9635-2290EB55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57550"/>
            <a:ext cx="1181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81F33"/>
                </a:solidFill>
              </a:defRPr>
            </a:pPr>
            <a:r>
              <a:rPr sz="1350" b="1" i="0">
                <a:solidFill>
                  <a:srgbClr val="081F33"/>
                </a:solidFill>
              </a:rPr>
              <a:t>Activation</a:t>
            </a:r>
          </a:p>
          <a:p xmlns:a="http://schemas.openxmlformats.org/drawingml/2006/main">
            <a:pPr algn="ctr">
              <a:defRPr sz="1350" b="1" i="0">
                <a:solidFill>
                  <a:srgbClr val="081F33"/>
                </a:solidFill>
              </a:defRPr>
            </a:pPr>
            <a:r>
              <a:rPr sz="1350" b="1" i="0">
                <a:solidFill>
                  <a:srgbClr val="081F33"/>
                </a:solidFill>
              </a:rPr>
              <a:t>probability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1C9F8D-9D2F-463B-BC77-F74A26AB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62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77A"/>
                </a:solidFill>
              </a:defRPr>
            </a:pPr>
            <a:r>
              <a:rPr sz="975" b="1" i="0">
                <a:solidFill>
                  <a:srgbClr val="5B677A"/>
                </a:solidFill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3E2159-C012-4670-BC7F-58B1B903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05050"/>
            <a:ext cx="15240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191E97-5227-4F24-B3BE-586E7847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336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B7285"/>
                </a:solidFill>
              </a:defRPr>
            </a:pPr>
            <a:r>
              <a:rPr sz="1125" b="1" i="0">
                <a:solidFill>
                  <a:srgbClr val="0B7285"/>
                </a:solidFill>
              </a:rPr>
              <a:t>UPLIFT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1ADF84-9C7A-4A4B-B4A8-FFCFEA45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28950"/>
            <a:ext cx="118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73DDDD-C452-488B-BDF8-E6E4EDD3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57550"/>
            <a:ext cx="1181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81F33"/>
                </a:solidFill>
              </a:defRPr>
            </a:pPr>
            <a:r>
              <a:rPr sz="1350" b="1" i="0">
                <a:solidFill>
                  <a:srgbClr val="081F33"/>
                </a:solidFill>
              </a:rPr>
              <a:t>Incremental value</a:t>
            </a:r>
          </a:p>
          <a:p xmlns:a="http://schemas.openxmlformats.org/drawingml/2006/main">
            <a:pPr algn="ctr">
              <a:defRPr sz="1350" b="1" i="0">
                <a:solidFill>
                  <a:srgbClr val="081F33"/>
                </a:solidFill>
              </a:defRPr>
            </a:pPr>
            <a:r>
              <a:rPr sz="1350" b="1" i="0">
                <a:solidFill>
                  <a:srgbClr val="081F33"/>
                </a:solidFill>
              </a:rPr>
              <a:t>of RM contact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E175AF-E851-4DE7-B994-31C53870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62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77A"/>
                </a:solidFill>
              </a:defRPr>
            </a:pPr>
            <a:r>
              <a:rPr sz="975" b="1" i="0">
                <a:solidFill>
                  <a:srgbClr val="5B677A"/>
                </a:solidFill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8AE1F9-8C02-4EFE-83B9-23BBA964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05050"/>
            <a:ext cx="15240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AE8A3D-A1BD-4AD3-8E24-D63B6188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336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B7285"/>
                </a:solidFill>
              </a:defRPr>
            </a:pPr>
            <a:r>
              <a:rPr sz="1125" b="1" i="0">
                <a:solidFill>
                  <a:srgbClr val="0B7285"/>
                </a:solidFill>
              </a:rPr>
              <a:t>ECONOMICS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486640-CD84-441B-BDAA-CBB2B501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28950"/>
            <a:ext cx="118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F2D750-5DFA-43C8-A346-5FAAA34F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57550"/>
            <a:ext cx="1181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81F33"/>
                </a:solidFill>
              </a:defRPr>
            </a:pPr>
            <a:r>
              <a:rPr sz="1350" b="1" i="0">
                <a:solidFill>
                  <a:srgbClr val="081F33"/>
                </a:solidFill>
              </a:rPr>
              <a:t>FTP, loss, capital</a:t>
            </a:r>
          </a:p>
          <a:p xmlns:a="http://schemas.openxmlformats.org/drawingml/2006/main">
            <a:pPr algn="ctr">
              <a:defRPr sz="1350" b="1" i="0">
                <a:solidFill>
                  <a:srgbClr val="081F33"/>
                </a:solidFill>
              </a:defRPr>
            </a:pPr>
            <a:r>
              <a:rPr sz="1350" b="1" i="0">
                <a:solidFill>
                  <a:srgbClr val="081F33"/>
                </a:solidFill>
              </a:rPr>
              <a:t>and servicing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759978-94C7-4B72-95D1-CBD7999D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962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77A"/>
                </a:solidFill>
              </a:defRPr>
            </a:pPr>
            <a:r>
              <a:rPr sz="975" b="1" i="0">
                <a:solidFill>
                  <a:srgbClr val="5B677A"/>
                </a:solidFill>
              </a:rPr>
              <a:t>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FBD10B-9BB8-49D9-A233-F3C8721C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05050"/>
            <a:ext cx="15240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8FEBEC-FB27-49FA-97DD-FEE5E5CE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336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B7285"/>
                </a:solidFill>
              </a:defRPr>
            </a:pPr>
            <a:r>
              <a:rPr sz="1125" b="1" i="0">
                <a:solidFill>
                  <a:srgbClr val="0B7285"/>
                </a:solidFill>
              </a:rPr>
              <a:t>POLICY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4CF306-AF09-4911-BA98-E06D4DEC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28950"/>
            <a:ext cx="118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D9ED79-DDB8-49D2-88A5-5C373813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257550"/>
            <a:ext cx="1181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81F33"/>
                </a:solidFill>
              </a:defRPr>
            </a:pPr>
            <a:r>
              <a:rPr sz="1350" b="1" i="0">
                <a:solidFill>
                  <a:srgbClr val="081F33"/>
                </a:solidFill>
              </a:rPr>
              <a:t>Permission, KYC,</a:t>
            </a:r>
          </a:p>
          <a:p xmlns:a="http://schemas.openxmlformats.org/drawingml/2006/main">
            <a:pPr algn="ctr">
              <a:defRPr sz="1350" b="1" i="0">
                <a:solidFill>
                  <a:srgbClr val="081F33"/>
                </a:solidFill>
              </a:defRPr>
            </a:pPr>
            <a:r>
              <a:rPr sz="1350" b="1" i="0">
                <a:solidFill>
                  <a:srgbClr val="081F33"/>
                </a:solidFill>
              </a:rPr>
              <a:t>risk and capacity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C500FD-EDC9-45CD-85AB-20049D92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6BA110-8254-4EC8-94A8-A14C48A0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10325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5803D"/>
                </a:solidFill>
              </a:defRPr>
            </a:pPr>
            <a:r>
              <a:rPr sz="1650" b="1" i="0">
                <a:solidFill>
                  <a:srgbClr val="15803D"/>
                </a:solidFill>
              </a:rPr>
              <a:t>Outcome | A reason-coded conversation prompt, accountable RM owner and measurable holdout—not a binding recommendation.</a:t>
            </a:r>
          </a:p>
        </p:txBody>
      </p:sp>
    </p:spTree>
    <p:extLst>
      <p:ext uri="{BB962C8B-B14F-4D97-AF65-F5344CB8AC3E}">
        <p14:creationId xmlns:p14="http://schemas.microsoft.com/office/powerpoint/2010/main" val="10542953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CBEE10-DA74-43DA-8B56-5255125B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77A"/>
                </a:solidFill>
              </a:defRPr>
            </a:pPr>
            <a:r>
              <a:rPr sz="975" b="1" i="0">
                <a:solidFill>
                  <a:srgbClr val="5B677A"/>
                </a:solidFill>
              </a:rPr>
              <a:t>AURELIA BANK | SME RELATIONSHIP &amp; SALES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ACF95C-5C59-4719-995E-1BB5E762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B677A"/>
                </a:solidFill>
              </a:defRPr>
            </a:pPr>
            <a:r>
              <a:rPr sz="975" b="1" i="0">
                <a:solidFill>
                  <a:srgbClr val="5B677A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7C95BB-F746-4F26-8829-CB260255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B5A410-6F8B-40F9-890B-461C8520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77A"/>
                </a:solidFill>
              </a:defRPr>
            </a:pPr>
            <a:r>
              <a:rPr sz="825" b="0" i="0">
                <a:solidFill>
                  <a:srgbClr val="5B677A"/>
                </a:solidFill>
              </a:rPr>
              <a:t>Source: repository architecture, API contract and SQL analytical views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14F5BC-4170-4DF6-8255-2EAFDEAF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B677A"/>
                </a:solidFill>
              </a:defRPr>
            </a:pPr>
            <a:r>
              <a:rPr sz="825" b="0" i="0">
                <a:solidFill>
                  <a:srgbClr val="5B677A"/>
                </a:solidFill>
              </a:rPr>
              <a:t>20 AUG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01D598-18BE-4E7A-AC63-4BCF66C5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81F33"/>
                </a:solidFill>
              </a:defRPr>
            </a:pPr>
            <a:r>
              <a:rPr sz="2925" b="1" i="0">
                <a:solidFill>
                  <a:srgbClr val="081F33"/>
                </a:solidFill>
              </a:rPr>
              <a:t>The operating model is modular, auditable and feedback-ready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A99853-0ACA-4702-99C6-FA3C61BC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77A"/>
                </a:solidFill>
              </a:defRPr>
            </a:pPr>
            <a:r>
              <a:rPr sz="1350" b="0" i="0">
                <a:solidFill>
                  <a:srgbClr val="5B677A"/>
                </a:solidFill>
              </a:rPr>
              <a:t>Deterministic policy surrounds the models; immutable evidence reaches API, SQL, Excel and Power BI consumers.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3C33C-845B-4BB9-9A69-28A38F87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8097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BDC4E1-8A9E-4A48-95B7-CF343D13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B7285"/>
                </a:solidFill>
              </a:defRPr>
            </a:pPr>
            <a:r>
              <a:rPr sz="1050" b="1" i="0">
                <a:solidFill>
                  <a:srgbClr val="0B7285"/>
                </a:solidFill>
              </a:rPr>
              <a:t>SOURCE LAYER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6F2A4F-A666-4F9C-AFD2-8DC88AF7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146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64F373-74AD-422F-8BDE-B56E5B75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14668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81F33"/>
                </a:solidFill>
              </a:defRPr>
            </a:pPr>
            <a:r>
              <a:rPr sz="1350" b="1" i="0">
                <a:solidFill>
                  <a:srgbClr val="081F33"/>
                </a:solidFill>
              </a:rPr>
              <a:t>SME master</a:t>
            </a:r>
          </a:p>
          <a:p xmlns:a="http://schemas.openxmlformats.org/drawingml/2006/main">
            <a:pPr algn="ctr">
              <a:defRPr sz="1350" b="1" i="0">
                <a:solidFill>
                  <a:srgbClr val="081F33"/>
                </a:solidFill>
              </a:defRPr>
            </a:pPr>
            <a:r>
              <a:rPr sz="1350" b="1" i="0">
                <a:solidFill>
                  <a:srgbClr val="081F33"/>
                </a:solidFill>
              </a:rPr>
              <a:t>flows | holdings</a:t>
            </a:r>
          </a:p>
          <a:p xmlns:a="http://schemas.openxmlformats.org/drawingml/2006/main">
            <a:pPr algn="ctr">
              <a:defRPr sz="1350" b="1" i="0">
                <a:solidFill>
                  <a:srgbClr val="081F33"/>
                </a:solidFill>
              </a:defRPr>
            </a:pPr>
            <a:r>
              <a:rPr sz="1350" b="1" i="0">
                <a:solidFill>
                  <a:srgbClr val="081F33"/>
                </a:solidFill>
              </a:rPr>
              <a:t>risk | interactions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6751F3-F5E2-4AC1-B120-48E44700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00250"/>
            <a:ext cx="18097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7EC960-50D5-41CA-9354-258303C9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0980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B7285"/>
                </a:solidFill>
              </a:defRPr>
            </a:pPr>
            <a:r>
              <a:rPr sz="1050" b="1" i="0">
                <a:solidFill>
                  <a:srgbClr val="0B7285"/>
                </a:solidFill>
              </a:rPr>
              <a:t>CUSTOMER 360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034C53-6A13-43D0-A1F7-308B18AF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67000"/>
            <a:ext cx="146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38A196-C2B4-4E2B-8946-58B01B37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57500"/>
            <a:ext cx="14668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81F33"/>
                </a:solidFill>
              </a:defRPr>
            </a:pPr>
            <a:r>
              <a:rPr sz="1350" b="1" i="0">
                <a:solidFill>
                  <a:srgbClr val="081F33"/>
                </a:solidFill>
              </a:rPr>
              <a:t>Depth | wallet proxy</a:t>
            </a:r>
          </a:p>
          <a:p xmlns:a="http://schemas.openxmlformats.org/drawingml/2006/main">
            <a:pPr algn="ctr">
              <a:defRPr sz="1350" b="1" i="0">
                <a:solidFill>
                  <a:srgbClr val="081F33"/>
                </a:solidFill>
              </a:defRPr>
            </a:pPr>
            <a:r>
              <a:rPr sz="1350" b="1" i="0">
                <a:solidFill>
                  <a:srgbClr val="081F33"/>
                </a:solidFill>
              </a:rPr>
              <a:t>need signals</a:t>
            </a:r>
          </a:p>
          <a:p xmlns:a="http://schemas.openxmlformats.org/drawingml/2006/main">
            <a:pPr algn="ctr">
              <a:defRPr sz="1350" b="1" i="0">
                <a:solidFill>
                  <a:srgbClr val="081F33"/>
                </a:solidFill>
              </a:defRPr>
            </a:pPr>
            <a:r>
              <a:rPr sz="1350" b="1" i="0">
                <a:solidFill>
                  <a:srgbClr val="081F33"/>
                </a:solidFill>
              </a:rPr>
              <a:t>feature snapshot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6B8673-45A4-4AEA-97A8-1B49EAA3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00250"/>
            <a:ext cx="18097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9B15A1-F18E-45A6-B0E0-E4A6AC5B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0980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B7285"/>
                </a:solidFill>
              </a:defRPr>
            </a:pPr>
            <a:r>
              <a:rPr sz="1050" b="1" i="0">
                <a:solidFill>
                  <a:srgbClr val="0B7285"/>
                </a:solidFill>
              </a:rPr>
              <a:t>DECISIONING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4A8F54-CE6D-4189-B1AC-8085182C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67000"/>
            <a:ext cx="146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CACAF9-800B-4F51-B875-EA06F6DE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57500"/>
            <a:ext cx="14668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81F33"/>
                </a:solidFill>
              </a:defRPr>
            </a:pPr>
            <a:r>
              <a:rPr sz="1350" b="1" i="0">
                <a:solidFill>
                  <a:srgbClr val="081F33"/>
                </a:solidFill>
              </a:rPr>
              <a:t>Propensity | uplift</a:t>
            </a:r>
          </a:p>
          <a:p xmlns:a="http://schemas.openxmlformats.org/drawingml/2006/main">
            <a:pPr algn="ctr">
              <a:defRPr sz="1350" b="1" i="0">
                <a:solidFill>
                  <a:srgbClr val="081F33"/>
                </a:solidFill>
              </a:defRPr>
            </a:pPr>
            <a:r>
              <a:rPr sz="1350" b="1" i="0">
                <a:solidFill>
                  <a:srgbClr val="081F33"/>
                </a:solidFill>
              </a:rPr>
              <a:t>reason codes</a:t>
            </a:r>
          </a:p>
          <a:p xmlns:a="http://schemas.openxmlformats.org/drawingml/2006/main">
            <a:pPr algn="ctr">
              <a:defRPr sz="1350" b="1" i="0">
                <a:solidFill>
                  <a:srgbClr val="081F33"/>
                </a:solidFill>
              </a:defRPr>
            </a:pPr>
            <a:r>
              <a:rPr sz="1350" b="1" i="0">
                <a:solidFill>
                  <a:srgbClr val="081F33"/>
                </a:solidFill>
              </a:rPr>
              <a:t>profitability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9ADEAA-F434-4E81-8F83-81A014A7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00250"/>
            <a:ext cx="18097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5AAC91-6080-46FE-AC31-439EF683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0980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B7285"/>
                </a:solidFill>
              </a:defRPr>
            </a:pPr>
            <a:r>
              <a:rPr sz="1050" b="1" i="0">
                <a:solidFill>
                  <a:srgbClr val="0B7285"/>
                </a:solidFill>
              </a:rPr>
              <a:t>POLICY &amp; CAPACITY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99BE4A-A5EE-4A3A-BA5E-A597EA77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67000"/>
            <a:ext cx="146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4ABEAA-79A3-43F4-8669-BC158A08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57500"/>
            <a:ext cx="14668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81F33"/>
                </a:solidFill>
              </a:defRPr>
            </a:pPr>
            <a:r>
              <a:rPr sz="1350" b="1" i="0">
                <a:solidFill>
                  <a:srgbClr val="081F33"/>
                </a:solidFill>
              </a:rPr>
              <a:t>Suppressions</a:t>
            </a:r>
          </a:p>
          <a:p xmlns:a="http://schemas.openxmlformats.org/drawingml/2006/main">
            <a:pPr algn="ctr">
              <a:defRPr sz="1350" b="1" i="0">
                <a:solidFill>
                  <a:srgbClr val="081F33"/>
                </a:solidFill>
              </a:defRPr>
            </a:pPr>
            <a:r>
              <a:rPr sz="1350" b="1" i="0">
                <a:solidFill>
                  <a:srgbClr val="081F33"/>
                </a:solidFill>
              </a:rPr>
              <a:t>score thresholds</a:t>
            </a:r>
          </a:p>
          <a:p xmlns:a="http://schemas.openxmlformats.org/drawingml/2006/main">
            <a:pPr algn="ctr">
              <a:defRPr sz="1350" b="1" i="0">
                <a:solidFill>
                  <a:srgbClr val="081F33"/>
                </a:solidFill>
              </a:defRPr>
            </a:pPr>
            <a:r>
              <a:rPr sz="1350" b="1" i="0">
                <a:solidFill>
                  <a:srgbClr val="081F33"/>
                </a:solidFill>
              </a:rPr>
              <a:t>RM allocation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414522-5BCE-49B0-B237-1234A5D0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00250"/>
            <a:ext cx="20574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6B53F3-1BE7-4E76-AA58-85D5A4E9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098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B7285"/>
                </a:solidFill>
              </a:defRPr>
            </a:pPr>
            <a:r>
              <a:rPr sz="1050" b="1" i="0">
                <a:solidFill>
                  <a:srgbClr val="0B7285"/>
                </a:solidFill>
              </a:rPr>
              <a:t>CONSUMPTION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DAED24-631C-4BD0-8CE5-AE4B8882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697B80-3AFE-4968-8763-9A39A3C4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7500"/>
            <a:ext cx="1714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81F33"/>
                </a:solidFill>
              </a:defRPr>
            </a:pPr>
            <a:r>
              <a:rPr sz="1350" b="1" i="0">
                <a:solidFill>
                  <a:srgbClr val="081F33"/>
                </a:solidFill>
              </a:rPr>
              <a:t>API | SQL | Excel</a:t>
            </a:r>
          </a:p>
          <a:p xmlns:a="http://schemas.openxmlformats.org/drawingml/2006/main">
            <a:pPr algn="ctr">
              <a:defRPr sz="1350" b="1" i="0">
                <a:solidFill>
                  <a:srgbClr val="081F33"/>
                </a:solidFill>
              </a:defRPr>
            </a:pPr>
            <a:r>
              <a:rPr sz="1350" b="1" i="0">
                <a:solidFill>
                  <a:srgbClr val="081F33"/>
                </a:solidFill>
              </a:rPr>
              <a:t>Power BI | deck</a:t>
            </a:r>
          </a:p>
          <a:p xmlns:a="http://schemas.openxmlformats.org/drawingml/2006/main">
            <a:pPr algn="ctr">
              <a:defRPr sz="1350" b="1" i="0">
                <a:solidFill>
                  <a:srgbClr val="081F33"/>
                </a:solidFill>
              </a:defRPr>
            </a:pPr>
            <a:r>
              <a:rPr sz="1350" b="1" i="0">
                <a:solidFill>
                  <a:srgbClr val="081F33"/>
                </a:solidFill>
              </a:rPr>
              <a:t>feedback outcomes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E3B653-B7E1-4AC1-BADF-4E02CACA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8130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B7285"/>
                </a:solidFill>
              </a:defRPr>
            </a:pPr>
            <a:r>
              <a:rPr sz="2250" b="1" i="0">
                <a:solidFill>
                  <a:srgbClr val="0B7285"/>
                </a:solidFill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A072A8-07B5-4049-85AF-D42CC6ED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8130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B7285"/>
                </a:solidFill>
              </a:defRPr>
            </a:pPr>
            <a:r>
              <a:rPr sz="2250" b="1" i="0">
                <a:solidFill>
                  <a:srgbClr val="0B7285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C88C81-5629-43B0-BA85-3DD4E13A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78130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B7285"/>
                </a:solidFill>
              </a:defRPr>
            </a:pPr>
            <a:r>
              <a:rPr sz="2250" b="1" i="0">
                <a:solidFill>
                  <a:srgbClr val="0B7285"/>
                </a:solidFill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8542BB-DBD8-46A6-82EB-D06B52AC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8130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B7285"/>
                </a:solidFill>
              </a:defRPr>
            </a:pPr>
            <a:r>
              <a:rPr sz="2250" b="1" i="0">
                <a:solidFill>
                  <a:srgbClr val="0B7285"/>
                </a:solidFill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BEC089-3ACA-4C32-A278-89545374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08204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27782F-E4CA-4C53-B47F-CCD4DFDD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5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0B8C5"/>
                </a:solidFill>
              </a:defRPr>
            </a:pPr>
            <a:r>
              <a:rPr sz="1050" b="1" i="0">
                <a:solidFill>
                  <a:srgbClr val="30B8C5"/>
                </a:solidFill>
              </a:rPr>
              <a:t>CROSS-CUTTING CONTROLS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CD525B-034C-44D0-8DEA-C46396F0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1036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Data lineage  |  temporal validation  |  conduct monitoring  |  human ownership  |  reproducible result digest</a:t>
            </a:r>
          </a:p>
        </p:txBody>
      </p:sp>
    </p:spTree>
    <p:extLst>
      <p:ext uri="{BB962C8B-B14F-4D97-AF65-F5344CB8AC3E}">
        <p14:creationId xmlns:p14="http://schemas.microsoft.com/office/powerpoint/2010/main" val="17050512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D1ECC7-6F39-426B-AA04-2445F604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77A"/>
                </a:solidFill>
              </a:defRPr>
            </a:pPr>
            <a:r>
              <a:rPr sz="975" b="1" i="0">
                <a:solidFill>
                  <a:srgbClr val="5B677A"/>
                </a:solidFill>
              </a:rPr>
              <a:t>AURELIA BANK | SME RELATIONSHIP &amp; SALES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A8C1C2-CF11-4EC3-B249-BEB233BE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B677A"/>
                </a:solidFill>
              </a:defRPr>
            </a:pPr>
            <a:r>
              <a:rPr sz="975" b="1" i="0">
                <a:solidFill>
                  <a:srgbClr val="5B677A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5481E9-3B2D-4881-AFE5-D9670F14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27D3AE-35D0-4FC8-B1A0-1729DEEE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77A"/>
                </a:solidFill>
              </a:defRPr>
            </a:pPr>
            <a:r>
              <a:rPr sz="825" b="0" i="0">
                <a:solidFill>
                  <a:srgbClr val="5B677A"/>
                </a:solidFill>
              </a:rPr>
              <a:t>Source: controlled synthetic customer and holding registers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9F398-3FE6-4207-9A7B-890E1B7C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B677A"/>
                </a:solidFill>
              </a:defRPr>
            </a:pPr>
            <a:r>
              <a:rPr sz="825" b="0" i="0">
                <a:solidFill>
                  <a:srgbClr val="5B677A"/>
                </a:solidFill>
              </a:rPr>
              <a:t>20 AUG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9BDF8D-C3EE-435C-9354-C695ED37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81F33"/>
                </a:solidFill>
              </a:defRPr>
            </a:pPr>
            <a:r>
              <a:rPr sz="2925" b="1" i="0">
                <a:solidFill>
                  <a:srgbClr val="081F33"/>
                </a:solidFill>
              </a:rPr>
              <a:t>The synthetic book spans meaningful SME relationship contexts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73BA7C-8A9D-4F24-9221-74FC5C53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77A"/>
                </a:solidFill>
              </a:defRPr>
            </a:pPr>
            <a:r>
              <a:rPr sz="1350" b="0" i="0">
                <a:solidFill>
                  <a:srgbClr val="5B677A"/>
                </a:solidFill>
              </a:rPr>
              <a:t>3,200 customers, 7,044 holdings and 48 RMs provide enough variation to test segmentation and capacity.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85800" y="1943100"/>
          <a:ext xmlns:a="http://schemas.openxmlformats.org/drawingml/2006/main" cx="48577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d96ccf68ef4526"/>
          </a:graphicData>
        </a:graphic>
      </p:graphicFrame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5962650" y="1943100"/>
          <a:ext xmlns:a="http://schemas.openxmlformats.org/drawingml/2006/main" cx="55435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a8050beee074c79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029AE6-E74E-46CA-81E8-F70E5431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BDBB02-6CF4-48FA-B7F6-2FD2B143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0"/>
            <a:ext cx="1036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81F33"/>
                </a:solidFill>
              </a:defRPr>
            </a:pPr>
            <a:r>
              <a:rPr sz="1350" b="1" i="0">
                <a:solidFill>
                  <a:srgbClr val="081F33"/>
                </a:solidFill>
              </a:rPr>
              <a:t>Relationship depth includes tenure, holdings, interactions and activity; wallet share remains an explicitly bounded proxy.</a:t>
            </a:r>
          </a:p>
        </p:txBody>
      </p:sp>
    </p:spTree>
    <p:extLst>
      <p:ext uri="{BB962C8B-B14F-4D97-AF65-F5344CB8AC3E}">
        <p14:creationId xmlns:p14="http://schemas.microsoft.com/office/powerpoint/2010/main" val="116430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44CD7C-C3F6-4408-BE34-89126FF2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77A"/>
                </a:solidFill>
              </a:defRPr>
            </a:pPr>
            <a:r>
              <a:rPr sz="975" b="1" i="0">
                <a:solidFill>
                  <a:srgbClr val="5B677A"/>
                </a:solidFill>
              </a:rPr>
              <a:t>AURELIA BANK | SME RELATIONSHIP &amp; SALES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87B80F-C1F4-4609-ACC4-0149F897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B677A"/>
                </a:solidFill>
              </a:defRPr>
            </a:pPr>
            <a:r>
              <a:rPr sz="975" b="1" i="0">
                <a:solidFill>
                  <a:srgbClr val="5B677A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DE418F-ADE3-4A91-A60C-FE48B724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987E56-0F37-4B1F-B47F-61B3B4FD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77A"/>
                </a:solidFill>
              </a:defRPr>
            </a:pPr>
            <a:r>
              <a:rPr sz="825" b="0" i="0">
                <a:solidFill>
                  <a:srgbClr val="5B677A"/>
                </a:solidFill>
              </a:rPr>
              <a:t>Source: out-of-time synthetic validation window, 2 May–5 August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F26BA8-F793-447C-A657-49590C82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B677A"/>
                </a:solidFill>
              </a:defRPr>
            </a:pPr>
            <a:r>
              <a:rPr sz="825" b="0" i="0">
                <a:solidFill>
                  <a:srgbClr val="5B677A"/>
                </a:solidFill>
              </a:rPr>
              <a:t>20 AUG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0A72E4-7639-4B57-89F2-9E552574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81F33"/>
                </a:solidFill>
              </a:defRPr>
            </a:pPr>
            <a:r>
              <a:rPr sz="2925" b="1" i="0">
                <a:solidFill>
                  <a:srgbClr val="081F33"/>
                </a:solidFill>
              </a:rPr>
              <a:t>The transparent champion narrowly leads the challenger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67C976-1586-4B7C-8688-1C045B20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77A"/>
                </a:solidFill>
              </a:defRPr>
            </a:pPr>
            <a:r>
              <a:rPr sz="1350" b="0" i="0">
                <a:solidFill>
                  <a:srgbClr val="5B677A"/>
                </a:solidFill>
              </a:rPr>
              <a:t>Logistic regression wins on AUC, precision-recall and calibration while preserving coefficient-level explainability.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85800" y="1962150"/>
          <a:ext xmlns:a="http://schemas.openxmlformats.org/drawingml/2006/main" cx="6858000" cy="3486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ec2b1689b86424d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3E86C6-2E42-41E1-9673-79154AF9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62150"/>
            <a:ext cx="3505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5FEAA3-FD83-4300-8768-57121CEE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3360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5803D"/>
                </a:solidFill>
              </a:defRPr>
            </a:pPr>
            <a:r>
              <a:rPr sz="2925" b="1" i="0">
                <a:solidFill>
                  <a:srgbClr val="15803D"/>
                </a:solidFill>
              </a:rPr>
              <a:t>2.07x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76F0F3-E519-46B0-A6B0-68ED65BD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860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81F33"/>
                </a:solidFill>
              </a:defRPr>
            </a:pPr>
            <a:r>
              <a:rPr sz="1425" b="1" i="0">
                <a:solidFill>
                  <a:srgbClr val="081F33"/>
                </a:solidFill>
              </a:rPr>
              <a:t>Top-decile lift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AC8F05-DC2E-4351-8D95-C1F14553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670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CC23B9-EDC3-489E-93F8-5FB52DEC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71825"/>
            <a:ext cx="3048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77A"/>
                </a:solidFill>
              </a:defRPr>
            </a:pPr>
            <a:r>
              <a:rPr sz="1125" b="0" i="0">
                <a:solidFill>
                  <a:srgbClr val="5B677A"/>
                </a:solidFill>
              </a:rPr>
              <a:t>Internal minimum: 1.35x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9C306E-03AC-4B83-908B-264D4FDE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29050"/>
            <a:ext cx="3505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23511B-5AD7-4832-986C-9466FC18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3860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2413B"/>
                </a:solidFill>
              </a:defRPr>
            </a:pPr>
            <a:r>
              <a:rPr sz="1050" b="1" i="0">
                <a:solidFill>
                  <a:srgbClr val="C2413B"/>
                </a:solidFill>
              </a:rPr>
              <a:t>MODEL-RISK BOUNDARY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E54053-9EC8-4E00-9519-A16C13B1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38650"/>
            <a:ext cx="2933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81F33"/>
                </a:solidFill>
              </a:defRPr>
            </a:pPr>
            <a:r>
              <a:rPr sz="1425" b="1" i="0">
                <a:solidFill>
                  <a:srgbClr val="081F33"/>
                </a:solidFill>
              </a:rPr>
              <a:t>Synthetic labels validate code and ranking logic—not production effectiveness or customer suitability.</a:t>
            </a:r>
          </a:p>
        </p:txBody>
      </p:sp>
    </p:spTree>
    <p:extLst>
      <p:ext uri="{BB962C8B-B14F-4D97-AF65-F5344CB8AC3E}">
        <p14:creationId xmlns:p14="http://schemas.microsoft.com/office/powerpoint/2010/main" val="3653168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03CFA3-8A30-48DA-AB2E-830B3906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77A"/>
                </a:solidFill>
              </a:defRPr>
            </a:pPr>
            <a:r>
              <a:rPr sz="975" b="1" i="0">
                <a:solidFill>
                  <a:srgbClr val="5B677A"/>
                </a:solidFill>
              </a:rPr>
              <a:t>AURELIA BANK | SME RELATIONSHIP &amp; SALES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793AB9-4D0B-43E9-B8D5-EAB833A5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B677A"/>
                </a:solidFill>
              </a:defRPr>
            </a:pPr>
            <a:r>
              <a:rPr sz="975" b="1" i="0">
                <a:solidFill>
                  <a:srgbClr val="5B677A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011841-10CB-40CC-951D-E9204C0A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AD15D8-7CE6-417F-A941-138D1AE9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77A"/>
                </a:solidFill>
              </a:defRPr>
            </a:pPr>
            <a:r>
              <a:rPr sz="825" b="0" i="0">
                <a:solidFill>
                  <a:srgbClr val="5B677A"/>
                </a:solidFill>
              </a:rPr>
              <a:t>Source: T-learner treatment/control estimates and uplift-decile diagnostics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9A3EAD-138C-4956-95FC-1972A7F4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B677A"/>
                </a:solidFill>
              </a:defRPr>
            </a:pPr>
            <a:r>
              <a:rPr sz="825" b="0" i="0">
                <a:solidFill>
                  <a:srgbClr val="5B677A"/>
                </a:solidFill>
              </a:rPr>
              <a:t>20 AUG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7C8A9D-F1E2-4C63-9694-E8ACE6F1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81F33"/>
                </a:solidFill>
              </a:defRPr>
            </a:pPr>
            <a:r>
              <a:rPr sz="2925" b="1" i="0">
                <a:solidFill>
                  <a:srgbClr val="081F33"/>
                </a:solidFill>
              </a:rPr>
              <a:t>Contact uplift changes who should be called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A2CD2D-B2CA-416C-8711-D1BD5364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77A"/>
                </a:solidFill>
              </a:defRPr>
            </a:pPr>
            <a:r>
              <a:rPr sz="1350" b="0" i="0">
                <a:solidFill>
                  <a:srgbClr val="5B677A"/>
                </a:solidFill>
              </a:rPr>
              <a:t>Top-decile predicted uplift is 14.3%; lower deciles approach zero and should be challenged through holdout testing.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685800" y="1962150"/>
          <a:ext xmlns:a="http://schemas.openxmlformats.org/drawingml/2006/main" cx="7429500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01853b7f7f5448b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992B39-24B6-4A69-8D30-C4164D73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62150"/>
            <a:ext cx="29146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2503D4-10A6-48FA-BF8C-3B5C7AA8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0980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B7285"/>
                </a:solidFill>
              </a:defRPr>
            </a:pPr>
            <a:r>
              <a:rPr sz="1050" b="1" i="0">
                <a:solidFill>
                  <a:srgbClr val="0B7285"/>
                </a:solidFill>
              </a:rPr>
              <a:t>WHY IT MATTERS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A5B5CD-115B-4360-921F-4C36AF50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86050"/>
            <a:ext cx="23431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81F33"/>
                </a:solidFill>
              </a:defRPr>
            </a:pPr>
            <a:r>
              <a:rPr sz="1500" b="1" i="0">
                <a:solidFill>
                  <a:srgbClr val="081F33"/>
                </a:solidFill>
              </a:rPr>
              <a:t>Propensity asks:</a:t>
            </a:r>
          </a:p>
          <a:p xmlns:a="http://schemas.openxmlformats.org/drawingml/2006/main">
            <a:pPr algn="l">
              <a:defRPr sz="1500" b="1" i="0">
                <a:solidFill>
                  <a:srgbClr val="081F33"/>
                </a:solidFill>
              </a:defRPr>
            </a:pPr>
            <a:r>
              <a:rPr sz="1500" b="1" i="0">
                <a:solidFill>
                  <a:srgbClr val="081F33"/>
                </a:solidFill>
              </a:rPr>
              <a:t>Who may activate?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 i="0">
                <a:solidFill>
                  <a:srgbClr val="081F33"/>
                </a:solidFill>
              </a:defRPr>
            </a:pPr>
            <a:r>
              <a:rPr sz="1500" b="1" i="0">
                <a:solidFill>
                  <a:srgbClr val="081F33"/>
                </a:solidFill>
              </a:rPr>
              <a:t>Uplift asks:</a:t>
            </a:r>
          </a:p>
          <a:p xmlns:a="http://schemas.openxmlformats.org/drawingml/2006/main">
            <a:pPr algn="l">
              <a:defRPr sz="1500" b="1" i="0">
                <a:solidFill>
                  <a:srgbClr val="081F33"/>
                </a:solidFill>
              </a:defRPr>
            </a:pPr>
            <a:r>
              <a:rPr sz="1500" b="1" i="0">
                <a:solidFill>
                  <a:srgbClr val="081F33"/>
                </a:solidFill>
              </a:rPr>
              <a:t>Who activates because an RM contacted them?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C74F2D-F405-4C6D-8D3C-50628914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838700"/>
            <a:ext cx="2343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8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69395B-D8EA-4D41-ACBD-E8EB36CE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672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PRESERVE A HOLDOUT</a:t>
            </a:r>
          </a:p>
        </p:txBody>
      </p:sp>
    </p:spTree>
    <p:extLst>
      <p:ext uri="{BB962C8B-B14F-4D97-AF65-F5344CB8AC3E}">
        <p14:creationId xmlns:p14="http://schemas.microsoft.com/office/powerpoint/2010/main" val="6037779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68BCE4-FF24-4BDA-B434-20E2C8F1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77A"/>
                </a:solidFill>
              </a:defRPr>
            </a:pPr>
            <a:r>
              <a:rPr sz="975" b="1" i="0">
                <a:solidFill>
                  <a:srgbClr val="5B677A"/>
                </a:solidFill>
              </a:rPr>
              <a:t>AURELIA BANK | SME RELATIONSHIP &amp; SALES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289DF9-9A11-43ED-A6BE-2A9A8695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B677A"/>
                </a:solidFill>
              </a:defRPr>
            </a:pPr>
            <a:r>
              <a:rPr sz="975" b="1" i="0">
                <a:solidFill>
                  <a:srgbClr val="5B677A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845C76-AF06-4B5C-9DDA-D3DC28E3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7541B6-7F96-41BB-AC4C-689CE1A0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77A"/>
                </a:solidFill>
              </a:defRPr>
            </a:pPr>
            <a:r>
              <a:rPr sz="825" b="0" i="0">
                <a:solidFill>
                  <a:srgbClr val="5B677A"/>
                </a:solidFill>
              </a:rPr>
              <a:t>Source: probability-weighted first-year economics; illustrative FTP, loss and capital assumptions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E7505C-DC67-4C73-A404-C30EF176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B677A"/>
                </a:solidFill>
              </a:defRPr>
            </a:pPr>
            <a:r>
              <a:rPr sz="825" b="0" i="0">
                <a:solidFill>
                  <a:srgbClr val="5B677A"/>
                </a:solidFill>
              </a:rPr>
              <a:t>20 AUG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F6F5DA-044A-4CE1-BEAB-DC925FC0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81F33"/>
                </a:solidFill>
              </a:defRPr>
            </a:pPr>
            <a:r>
              <a:rPr sz="2925" b="1" i="0">
                <a:solidFill>
                  <a:srgbClr val="081F33"/>
                </a:solidFill>
              </a:rPr>
              <a:t>Value survives a full risk-economic bridge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85F807-578B-4495-A13F-EBA65229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77A"/>
                </a:solidFill>
              </a:defRPr>
            </a:pPr>
            <a:r>
              <a:rPr sz="1350" b="0" i="0">
                <a:solidFill>
                  <a:srgbClr val="5B677A"/>
                </a:solidFill>
              </a:rPr>
              <a:t>The queue starts with TRY 337.5m activated gross income and retains TRY 228.1m risk-adjusted profit before probability weighting.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112D1B-ED68-4EF2-BC83-57A56382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809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8DCB7C-4569-4BCD-A9E4-90F78A71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1504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B4F60"/>
                </a:solidFill>
              </a:defRPr>
            </a:pPr>
            <a:r>
              <a:rPr sz="975" b="1" i="0">
                <a:solidFill>
                  <a:srgbClr val="0B4F60"/>
                </a:solidFill>
              </a:rPr>
              <a:t>GROSS INCOME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60811E-3A17-435C-A804-FACF53D6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504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81F33"/>
                </a:solidFill>
              </a:defRPr>
            </a:pPr>
            <a:r>
              <a:rPr sz="1875" b="1" i="0">
                <a:solidFill>
                  <a:srgbClr val="081F33"/>
                </a:solidFill>
              </a:rPr>
              <a:t>TRY 337.5m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276488-3B75-47F1-A77B-290AB652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95500"/>
            <a:ext cx="1809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0CC62E-1CF3-417D-AE90-21132B3E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86000"/>
            <a:ext cx="1504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D97706"/>
                </a:solidFill>
              </a:defRPr>
            </a:pPr>
            <a:r>
              <a:rPr sz="975" b="1" i="0">
                <a:solidFill>
                  <a:srgbClr val="D97706"/>
                </a:solidFill>
              </a:rPr>
              <a:t>FUNDING COST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3B0D68-1975-4F3D-AB50-56092DA5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57500"/>
            <a:ext cx="1504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81F33"/>
                </a:solidFill>
              </a:defRPr>
            </a:pPr>
            <a:r>
              <a:rPr sz="1875" b="1" i="0">
                <a:solidFill>
                  <a:srgbClr val="081F33"/>
                </a:solidFill>
              </a:rPr>
              <a:t>TRY 89.0m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704485-2E95-43AB-B6B2-84ED1CB2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1809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0C514E-E0DD-48B3-9587-C02AF027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86000"/>
            <a:ext cx="1504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C2413B"/>
                </a:solidFill>
              </a:defRPr>
            </a:pPr>
            <a:r>
              <a:rPr sz="975" b="1" i="0">
                <a:solidFill>
                  <a:srgbClr val="C2413B"/>
                </a:solidFill>
              </a:rPr>
              <a:t>EXPECTED LOSS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956141-285A-494F-9DB5-71311CB6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57500"/>
            <a:ext cx="1504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81F33"/>
                </a:solidFill>
              </a:defRPr>
            </a:pPr>
            <a:r>
              <a:rPr sz="1875" b="1" i="0">
                <a:solidFill>
                  <a:srgbClr val="081F33"/>
                </a:solidFill>
              </a:rPr>
              <a:t>TRY 0.2m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BD0902-8808-4603-9391-D6C248D5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95500"/>
            <a:ext cx="1809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4E55CE-56EC-4F2B-94CC-242AE470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86000"/>
            <a:ext cx="1504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D97706"/>
                </a:solidFill>
              </a:defRPr>
            </a:pPr>
            <a:r>
              <a:rPr sz="975" b="1" i="0">
                <a:solidFill>
                  <a:srgbClr val="D97706"/>
                </a:solidFill>
              </a:rPr>
              <a:t>CAPITAL CHARGE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3517A2-A4A8-4092-84E2-131D8B3E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57500"/>
            <a:ext cx="1504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81F33"/>
                </a:solidFill>
              </a:defRPr>
            </a:pPr>
            <a:r>
              <a:rPr sz="1875" b="1" i="0">
                <a:solidFill>
                  <a:srgbClr val="081F33"/>
                </a:solidFill>
              </a:rPr>
              <a:t>TRY 15.2m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2CFC00-C2B7-4B1A-AF39-724A2E34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95500"/>
            <a:ext cx="1809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5BCA3F-8645-46B5-B23E-AC3EB6D4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86000"/>
            <a:ext cx="1504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C2413B"/>
                </a:solidFill>
              </a:defRPr>
            </a:pPr>
            <a:r>
              <a:rPr sz="975" b="1" i="0">
                <a:solidFill>
                  <a:srgbClr val="C2413B"/>
                </a:solidFill>
              </a:rPr>
              <a:t>SERVICING COST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06E93E-AE2E-4979-83FA-C7AC8019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57500"/>
            <a:ext cx="1504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81F33"/>
                </a:solidFill>
              </a:defRPr>
            </a:pPr>
            <a:r>
              <a:rPr sz="1875" b="1" i="0">
                <a:solidFill>
                  <a:srgbClr val="081F33"/>
                </a:solidFill>
              </a:rPr>
              <a:t>TRY 5.0m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C152E6-5E56-4B5D-B4AA-00A92EA9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647950"/>
            <a:ext cx="19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5B677A"/>
                </a:solidFill>
              </a:defRPr>
            </a:pPr>
            <a:r>
              <a:rPr sz="2100" b="1" i="0">
                <a:solidFill>
                  <a:srgbClr val="5B677A"/>
                </a:solidFill>
              </a:rPr>
              <a:t>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FF434F-B3D9-41A3-BB3C-582C46AA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47950"/>
            <a:ext cx="19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5B677A"/>
                </a:solidFill>
              </a:defRPr>
            </a:pPr>
            <a:r>
              <a:rPr sz="2100" b="1" i="0">
                <a:solidFill>
                  <a:srgbClr val="5B677A"/>
                </a:solidFill>
              </a:rPr>
              <a:t>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33B777-ACF0-478C-9323-767D9AAC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47950"/>
            <a:ext cx="19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5B677A"/>
                </a:solidFill>
              </a:defRPr>
            </a:pPr>
            <a:r>
              <a:rPr sz="2100" b="1" i="0">
                <a:solidFill>
                  <a:srgbClr val="5B677A"/>
                </a:solidFill>
              </a:rPr>
              <a:t>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38FB38-363F-4388-9D2D-9378FD7D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47950"/>
            <a:ext cx="19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5B677A"/>
                </a:solidFill>
              </a:defRPr>
            </a:pPr>
            <a:r>
              <a:rPr sz="2100" b="1" i="0">
                <a:solidFill>
                  <a:srgbClr val="5B677A"/>
                </a:solidFill>
              </a:rPr>
              <a:t>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D326F5-C594-43C8-8E48-D0D4C6D6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5143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9F070F-E51C-4D34-BF26-3982A0C9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6720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5803D"/>
                </a:solidFill>
              </a:defRPr>
            </a:pPr>
            <a:r>
              <a:rPr sz="1050" b="1" i="0">
                <a:solidFill>
                  <a:srgbClr val="15803D"/>
                </a:solidFill>
              </a:rPr>
              <a:t>RISK-ADJUSTED PROFIT IF ACTIVATED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89A6FA-6681-4DEB-95AA-87774D12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453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5803D"/>
                </a:solidFill>
              </a:defRPr>
            </a:pPr>
            <a:r>
              <a:rPr sz="2850" b="1" i="0">
                <a:solidFill>
                  <a:srgbClr val="15803D"/>
                </a:solidFill>
              </a:rPr>
              <a:t>TRY 228.1m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598973-FA37-47FB-B9F7-C2AE9605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95750"/>
            <a:ext cx="5143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A42DC5-EA8B-4F39-ACD9-95DE70DA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6720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0B8C5"/>
                </a:solidFill>
              </a:defRPr>
            </a:pPr>
            <a:r>
              <a:rPr sz="1050" b="1" i="0">
                <a:solidFill>
                  <a:srgbClr val="30B8C5"/>
                </a:solidFill>
              </a:rPr>
              <a:t>EXPECTED INCREMENTAL PROFIT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C60ED5-CA81-4BE3-85A6-42DD61CC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67250"/>
            <a:ext cx="453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TRY 16.7m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EDA8E2-F4FE-4E6C-90D4-35D63208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C2413B"/>
                </a:solidFill>
              </a:defRPr>
            </a:pPr>
            <a:r>
              <a:rPr sz="1350" b="1" i="0">
                <a:solidFill>
                  <a:srgbClr val="C2413B"/>
                </a:solidFill>
              </a:rPr>
              <a:t>Illustrative economics support prioritisation; Finance must reconcile realised contribution and assumption governance.</a:t>
            </a:r>
          </a:p>
        </p:txBody>
      </p:sp>
    </p:spTree>
    <p:extLst>
      <p:ext uri="{BB962C8B-B14F-4D97-AF65-F5344CB8AC3E}">
        <p14:creationId xmlns:p14="http://schemas.microsoft.com/office/powerpoint/2010/main" val="1196908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4EA901-B10A-47B0-A7FE-9D325C77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77A"/>
                </a:solidFill>
              </a:defRPr>
            </a:pPr>
            <a:r>
              <a:rPr sz="975" b="1" i="0">
                <a:solidFill>
                  <a:srgbClr val="5B677A"/>
                </a:solidFill>
              </a:rPr>
              <a:t>AURELIA BANK | SME RELATIONSHIP &amp; SALES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78DD54-6805-4D06-AD98-C723D8E4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B677A"/>
                </a:solidFill>
              </a:defRPr>
            </a:pPr>
            <a:r>
              <a:rPr sz="975" b="1" i="0">
                <a:solidFill>
                  <a:srgbClr val="5B677A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D3D339-6BEE-42B3-BD22-02E94CE8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F482F2-E3E7-4F83-B27F-10825687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77A"/>
                </a:solidFill>
              </a:defRPr>
            </a:pPr>
            <a:r>
              <a:rPr sz="825" b="0" i="0">
                <a:solidFill>
                  <a:srgbClr val="5B677A"/>
                </a:solidFill>
              </a:rPr>
              <a:t>Source: governed next-best-conversation queue and product economics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DCE574-B205-4211-A267-C2143E65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B677A"/>
                </a:solidFill>
              </a:defRPr>
            </a:pPr>
            <a:r>
              <a:rPr sz="825" b="0" i="0">
                <a:solidFill>
                  <a:srgbClr val="5B677A"/>
                </a:solidFill>
              </a:rPr>
              <a:t>20 AUG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298A18-136B-4F36-BBE2-69A2A8C7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81F33"/>
                </a:solidFill>
              </a:defRPr>
            </a:pPr>
            <a:r>
              <a:rPr sz="2925" b="1" i="0">
                <a:solidFill>
                  <a:srgbClr val="081F33"/>
                </a:solidFill>
              </a:rPr>
              <a:t>Cash management carries the value mix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A2D4D3-A746-4459-A440-C7A06C55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77A"/>
                </a:solidFill>
              </a:defRPr>
            </a:pPr>
            <a:r>
              <a:rPr sz="1350" b="0" i="0">
                <a:solidFill>
                  <a:srgbClr val="5B677A"/>
                </a:solidFill>
              </a:rPr>
              <a:t>Cash Management contributes 65.9% of expected profit; lending conversations remain deliberately scarce after risk and profitability gates.</a:t>
            </a:r>
          </a:p>
        </p:txBody>
      </p:sp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685800" y="1905000"/>
          <a:ext xmlns:a="http://schemas.openxmlformats.org/drawingml/2006/main" cx="7429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52f0c7824c84a6e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318464-125C-4E2A-B150-97F457ED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0"/>
            <a:ext cx="29337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1F3C49-F888-4E3E-ABB2-1443B487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5265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B7285"/>
                </a:solidFill>
              </a:defRPr>
            </a:pPr>
            <a:r>
              <a:rPr sz="1050" b="1" i="0">
                <a:solidFill>
                  <a:srgbClr val="0B7285"/>
                </a:solidFill>
              </a:rPr>
              <a:t>CONVERSATION VOLUME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9097DD-E674-48A4-AEED-A4920E59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1F33"/>
                </a:solidFill>
              </a:defRPr>
            </a:pPr>
            <a:r>
              <a:rPr sz="1125" b="1" i="0">
                <a:solidFill>
                  <a:srgbClr val="081F33"/>
                </a:solidFill>
              </a:rPr>
              <a:t>Cash Management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E8DB2B-1149-4659-B0BA-67920393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0B7285"/>
                </a:solidFill>
              </a:defRPr>
            </a:pPr>
            <a:r>
              <a:rPr sz="1350" b="1" i="0">
                <a:solidFill>
                  <a:srgbClr val="0B7285"/>
                </a:solidFill>
              </a:rPr>
              <a:t>343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B98604-E77F-4E9D-9B18-73A00B71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67050"/>
            <a:ext cx="236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647CEE-8039-4ABD-A1BA-2399AA11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004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1F33"/>
                </a:solidFill>
              </a:defRPr>
            </a:pPr>
            <a:r>
              <a:rPr sz="1125" b="1" i="0">
                <a:solidFill>
                  <a:srgbClr val="081F33"/>
                </a:solidFill>
              </a:rPr>
              <a:t>POS &amp; Merchant Acquiring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872C92-7CA2-4F27-B126-42FC6C7C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004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081F33"/>
                </a:solidFill>
              </a:defRPr>
            </a:pPr>
            <a:r>
              <a:rPr sz="1350" b="1" i="0">
                <a:solidFill>
                  <a:srgbClr val="081F33"/>
                </a:solidFill>
              </a:rPr>
              <a:t>165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4F0FA4-0813-4D03-A448-A9C305DE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00450"/>
            <a:ext cx="236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3AD397-4164-47B4-9DFA-D756CBDE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33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1F33"/>
                </a:solidFill>
              </a:defRPr>
            </a:pPr>
            <a:r>
              <a:rPr sz="1125" b="1" i="0">
                <a:solidFill>
                  <a:srgbClr val="081F33"/>
                </a:solidFill>
              </a:rPr>
              <a:t>Payroll Services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A2E865-9707-4E1F-8B6E-B4A34DB0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7338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081F33"/>
                </a:solidFill>
              </a:defRPr>
            </a:pPr>
            <a:r>
              <a:rPr sz="1350" b="1" i="0">
                <a:solidFill>
                  <a:srgbClr val="081F33"/>
                </a:solidFill>
              </a:rPr>
              <a:t>129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5EC280-85CA-455B-B226-791628E6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33850"/>
            <a:ext cx="236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C9ADCA-39CD-4613-8583-66C2861D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672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81F33"/>
                </a:solidFill>
              </a:defRPr>
            </a:pPr>
            <a:r>
              <a:rPr sz="1125" b="0" i="0">
                <a:solidFill>
                  <a:srgbClr val="081F33"/>
                </a:solidFill>
              </a:rPr>
              <a:t>Business Credit Card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27FA34-E467-481D-B082-AA7F6264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2672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081F33"/>
                </a:solidFill>
              </a:defRPr>
            </a:pPr>
            <a:r>
              <a:rPr sz="1350" b="1" i="0">
                <a:solidFill>
                  <a:srgbClr val="081F33"/>
                </a:solidFill>
              </a:rPr>
              <a:t>16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F08413-4F02-4FF1-8B10-A173C567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67250"/>
            <a:ext cx="236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B198C4-ECB4-46DE-946C-235A8551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006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81F33"/>
                </a:solidFill>
              </a:defRPr>
            </a:pPr>
            <a:r>
              <a:rPr sz="1125" b="0" i="0">
                <a:solidFill>
                  <a:srgbClr val="081F33"/>
                </a:solidFill>
              </a:rPr>
              <a:t>FX Risk Management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1FD5CE-2171-4C6D-B33A-E673CE02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006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081F33"/>
                </a:solidFill>
              </a:defRPr>
            </a:pPr>
            <a:r>
              <a:rPr sz="1350" b="1" i="0">
                <a:solidFill>
                  <a:srgbClr val="081F33"/>
                </a:solidFill>
              </a:rPr>
              <a:t>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96780F-95D0-4FA1-A2BC-4D74509B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00650"/>
            <a:ext cx="236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1F9A35-00AE-49D3-B54F-31820E95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81F33"/>
                </a:solidFill>
              </a:defRPr>
            </a:pPr>
            <a:r>
              <a:rPr sz="1350" b="1" i="0">
                <a:solidFill>
                  <a:srgbClr val="081F33"/>
                </a:solidFill>
              </a:rPr>
              <a:t>Interpretation | The engine rewards visible operating need and positive economics—not a predetermined product campaign.</a:t>
            </a:r>
          </a:p>
        </p:txBody>
      </p:sp>
    </p:spTree>
    <p:extLst>
      <p:ext uri="{BB962C8B-B14F-4D97-AF65-F5344CB8AC3E}">
        <p14:creationId xmlns:p14="http://schemas.microsoft.com/office/powerpoint/2010/main" val="20543126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FB3E09-A7FB-4BB5-A1B9-8A69BE07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77A"/>
                </a:solidFill>
              </a:defRPr>
            </a:pPr>
            <a:r>
              <a:rPr sz="975" b="1" i="0">
                <a:solidFill>
                  <a:srgbClr val="5B677A"/>
                </a:solidFill>
              </a:rPr>
              <a:t>AURELIA BANK | SME RELATIONSHIP &amp; SALES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794D8-7427-4C51-AA2E-2B0373D8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B677A"/>
                </a:solidFill>
              </a:defRPr>
            </a:pPr>
            <a:r>
              <a:rPr sz="975" b="1" i="0">
                <a:solidFill>
                  <a:srgbClr val="5B677A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834465-4098-4D37-9F4A-08A35CA9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525A2-87D3-450C-8A7D-21221F12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77A"/>
                </a:solidFill>
              </a:defRPr>
            </a:pPr>
            <a:r>
              <a:rPr sz="825" b="0" i="0">
                <a:solidFill>
                  <a:srgbClr val="5B677A"/>
                </a:solidFill>
              </a:rPr>
              <a:t>Source: RM worklist, capacity allocation and expected sales funnel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B3A357-131A-4B3B-8CF3-26758D87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B677A"/>
                </a:solidFill>
              </a:defRPr>
            </a:pPr>
            <a:r>
              <a:rPr sz="825" b="0" i="0">
                <a:solidFill>
                  <a:srgbClr val="5B677A"/>
                </a:solidFill>
              </a:rPr>
              <a:t>20 AUG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341BB5-B05F-458C-B28A-7FA98197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81F33"/>
                </a:solidFill>
              </a:defRPr>
            </a:pPr>
            <a:r>
              <a:rPr sz="2925" b="1" i="0">
                <a:solidFill>
                  <a:srgbClr val="081F33"/>
                </a:solidFill>
              </a:rPr>
              <a:t>The queue fits capacity and yields 109 expected activations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3F839E-9E58-4F38-B9FC-2D4B184F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77A"/>
                </a:solidFill>
              </a:defRPr>
            </a:pPr>
            <a:r>
              <a:rPr sz="1350" b="0" i="0">
                <a:solidFill>
                  <a:srgbClr val="5B677A"/>
                </a:solidFill>
              </a:rPr>
              <a:t>Average RM utilisation is 24.3%; the busiest RM reaches 60.7%; no policy-qualified conversation is waitlisted.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685800" y="1962150"/>
          <a:ext xmlns:a="http://schemas.openxmlformats.org/drawingml/2006/main" cx="6858000" cy="3562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1279869a1c048a8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B063C-C50B-4FB0-8A59-E523CC95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62150"/>
            <a:ext cx="3505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0702CA-D532-4D19-8F01-E44465DD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3360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5803D"/>
                </a:solidFill>
              </a:defRPr>
            </a:pPr>
            <a:r>
              <a:rPr sz="2925" b="1" i="0">
                <a:solidFill>
                  <a:srgbClr val="15803D"/>
                </a:solidFill>
              </a:rPr>
              <a:t>24.3%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727330-0C0A-4BA3-8AC2-A192A6A9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860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81F33"/>
                </a:solidFill>
              </a:defRPr>
            </a:pPr>
            <a:r>
              <a:rPr sz="1425" b="1" i="0">
                <a:solidFill>
                  <a:srgbClr val="081F33"/>
                </a:solidFill>
              </a:rPr>
              <a:t>Average utilisation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2E2E4E-931C-47F1-9285-D228EE7E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670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467532-DA21-4F24-A5C9-A849A66B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71825"/>
            <a:ext cx="3048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77A"/>
                </a:solidFill>
              </a:defRPr>
            </a:pPr>
            <a:r>
              <a:rPr sz="1125" b="0" i="0">
                <a:solidFill>
                  <a:srgbClr val="5B677A"/>
                </a:solidFill>
              </a:rPr>
              <a:t>Across 48 relationship managers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2B4D5E-9196-4D6D-BA89-2331EA82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3505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768069-55F4-474F-B437-1CF83F56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8145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5803D"/>
                </a:solidFill>
              </a:defRPr>
            </a:pPr>
            <a:r>
              <a:rPr sz="2925" b="1" i="0">
                <a:solidFill>
                  <a:srgbClr val="15803D"/>
                </a:solidFill>
              </a:rPr>
              <a:t>60.7%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C65AC4-70E2-4CF2-8EE9-3F5F6A36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339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81F33"/>
                </a:solidFill>
              </a:defRPr>
            </a:pPr>
            <a:r>
              <a:rPr sz="1425" b="1" i="0">
                <a:solidFill>
                  <a:srgbClr val="081F33"/>
                </a:solidFill>
              </a:rPr>
              <a:t>Maximum utilisation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26D36F-B537-461F-8CE9-B4C3E976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1490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77B10B-9391-4748-BA96-D82222CE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19675"/>
            <a:ext cx="3048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77A"/>
                </a:solidFill>
              </a:defRPr>
            </a:pPr>
            <a:r>
              <a:rPr sz="1125" b="0" i="0">
                <a:solidFill>
                  <a:srgbClr val="5B677A"/>
                </a:solidFill>
              </a:rPr>
              <a:t>0 capacity waitlist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7BCC01-E23B-4E51-B515-9EBCB49C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C2413B"/>
                </a:solidFill>
              </a:defRPr>
            </a:pPr>
            <a:r>
              <a:rPr sz="1425" b="1" i="0">
                <a:solidFill>
                  <a:srgbClr val="C2413B"/>
                </a:solidFill>
              </a:rPr>
              <a:t>Capacity is a hard allocation control—not a productivity target and not permission to pressure a customer.</a:t>
            </a:r>
          </a:p>
        </p:txBody>
      </p:sp>
    </p:spTree>
    <p:extLst>
      <p:ext uri="{BB962C8B-B14F-4D97-AF65-F5344CB8AC3E}">
        <p14:creationId xmlns:p14="http://schemas.microsoft.com/office/powerpoint/2010/main" val="12859298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885B3C-32EC-451F-99CA-73566E3E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77A"/>
                </a:solidFill>
              </a:defRPr>
            </a:pPr>
            <a:r>
              <a:rPr sz="975" b="1" i="0">
                <a:solidFill>
                  <a:srgbClr val="5B677A"/>
                </a:solidFill>
              </a:rPr>
              <a:t>AURELIA BANK | SME RELATIONSHIP &amp; SALES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189DA1-D4DB-4A65-ACB2-FF92AD85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B677A"/>
                </a:solidFill>
              </a:defRPr>
            </a:pPr>
            <a:r>
              <a:rPr sz="975" b="1" i="0">
                <a:solidFill>
                  <a:srgbClr val="5B677A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4DC7F9-3895-413F-976A-920C95FB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B9BE8B-D8EC-472B-98B3-CE478EF6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77A"/>
                </a:solidFill>
              </a:defRPr>
            </a:pPr>
            <a:r>
              <a:rPr sz="825" b="0" i="0">
                <a:solidFill>
                  <a:srgbClr val="5B677A"/>
                </a:solidFill>
              </a:rPr>
              <a:t>Source: data-quality, model, conduct and management-control registers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2405D4-83E9-4B4A-8F7B-A1A336EA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B677A"/>
                </a:solidFill>
              </a:defRPr>
            </a:pPr>
            <a:r>
              <a:rPr sz="825" b="0" i="0">
                <a:solidFill>
                  <a:srgbClr val="5B677A"/>
                </a:solidFill>
              </a:rPr>
              <a:t>20 AUG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29323E-3F13-43D4-B294-3151E29D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81F33"/>
                </a:solidFill>
              </a:defRPr>
            </a:pPr>
            <a:r>
              <a:rPr sz="2925" b="1" i="0">
                <a:solidFill>
                  <a:srgbClr val="081F33"/>
                </a:solidFill>
              </a:rPr>
              <a:t>Controls are visible before commercial activation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02189A-84B0-4850-A568-39E31299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77A"/>
                </a:solidFill>
              </a:defRPr>
            </a:pPr>
            <a:r>
              <a:rPr sz="1350" b="0" i="0">
                <a:solidFill>
                  <a:srgbClr val="5B677A"/>
                </a:solidFill>
              </a:rPr>
              <a:t>Fourteen data-quality checks pass; one of ten management controls breaches; automated sale count remains zero.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53FA29-1BED-4E83-836A-A3012855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FDF06E-4390-42D8-8EC4-F96BFC17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716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5803D"/>
                </a:solidFill>
              </a:defRPr>
            </a:pPr>
            <a:r>
              <a:rPr sz="1125" b="1" i="0">
                <a:solidFill>
                  <a:srgbClr val="15803D"/>
                </a:solidFill>
              </a:rPr>
              <a:t>DATA QUALITY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9211DA-0C40-4DAB-A27B-CEC17267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7167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803D"/>
                </a:solidFill>
              </a:defRPr>
            </a:pPr>
            <a:r>
              <a:rPr sz="1350" b="1" i="0">
                <a:solidFill>
                  <a:srgbClr val="15803D"/>
                </a:solidFill>
              </a:rPr>
              <a:t>14 / 14 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BB677E-3309-4C91-A926-FB0D81CD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971675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1F33"/>
                </a:solidFill>
              </a:defRPr>
            </a:pPr>
            <a:r>
              <a:rPr sz="1350" b="1" i="0">
                <a:solidFill>
                  <a:srgbClr val="081F33"/>
                </a:solidFill>
              </a:rPr>
              <a:t>Identifiers, joins, code sets, bounded features and coverage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3335E3-C418-41C5-B9F1-7AC166D1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340421-49BE-424D-B765-29F23682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5272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5803D"/>
                </a:solidFill>
              </a:defRPr>
            </a:pPr>
            <a:r>
              <a:rPr sz="1125" b="1" i="0">
                <a:solidFill>
                  <a:srgbClr val="15803D"/>
                </a:solidFill>
              </a:rPr>
              <a:t>MODEL RISK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753A1D-99D6-4E3F-972B-9C9C06F4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5272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803D"/>
                </a:solidFill>
              </a:defRPr>
            </a:pPr>
            <a:r>
              <a:rPr sz="1350" b="1" i="0">
                <a:solidFill>
                  <a:srgbClr val="15803D"/>
                </a:solidFill>
              </a:rPr>
              <a:t>PASS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3CFB51-9CE4-414A-9D03-73600D28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52725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1F33"/>
                </a:solidFill>
              </a:defRPr>
            </a:pPr>
            <a:r>
              <a:rPr sz="1350" b="1" i="0">
                <a:solidFill>
                  <a:srgbClr val="081F33"/>
                </a:solidFill>
              </a:rPr>
              <a:t>AUC 71.5% | top-decile lift 2.07x | Brier 18.2%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3AB4EB-95BD-4634-AD84-1E59C01A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82E304-032E-4189-8CC5-436906EA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337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5803D"/>
                </a:solidFill>
              </a:defRPr>
            </a:pPr>
            <a:r>
              <a:rPr sz="1125" b="1" i="0">
                <a:solidFill>
                  <a:srgbClr val="15803D"/>
                </a:solidFill>
              </a:rPr>
              <a:t>CONDUCT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EF0C9A-ECF5-4049-B572-CF0DB6DD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3377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803D"/>
                </a:solidFill>
              </a:defRPr>
            </a:pPr>
            <a:r>
              <a:rPr sz="1350" b="1" i="0">
                <a:solidFill>
                  <a:srgbClr val="15803D"/>
                </a:solidFill>
              </a:rPr>
              <a:t>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F9FE92-D922-46DB-97A2-852C5C7D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33775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1F33"/>
                </a:solidFill>
              </a:defRPr>
            </a:pPr>
            <a:r>
              <a:rPr sz="1350" b="1" i="0">
                <a:solidFill>
                  <a:srgbClr val="081F33"/>
                </a:solidFill>
              </a:rPr>
              <a:t>Maximum operational-segment selection gap 5.9% vs 12% ceiling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3BBAE1-0A3C-44D7-9704-2939AAA5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1B2FD9-C0C7-470A-913F-D5114363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1482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2413B"/>
                </a:solidFill>
              </a:defRPr>
            </a:pPr>
            <a:r>
              <a:rPr sz="1125" b="1" i="0">
                <a:solidFill>
                  <a:srgbClr val="C2413B"/>
                </a:solidFill>
              </a:rPr>
              <a:t>KYC OPERATIONS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2AB441-061C-4789-B5DE-CAF8DC5F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1482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2413B"/>
                </a:solidFill>
              </a:defRPr>
            </a:pPr>
            <a:r>
              <a:rPr sz="1350" b="1" i="0">
                <a:solidFill>
                  <a:srgbClr val="C2413B"/>
                </a:solidFill>
              </a:rPr>
              <a:t>BREACH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C83336-7576-4B81-A453-C93A7624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314825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1F33"/>
                </a:solidFill>
              </a:defRPr>
            </a:pPr>
            <a:r>
              <a:rPr sz="1350" b="1" i="0">
                <a:solidFill>
                  <a:srgbClr val="081F33"/>
                </a:solidFill>
              </a:rPr>
              <a:t>38.1% overdue vs 30% ceiling; accountable remediation required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F7C503-6161-489C-918C-341D2F72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449249-C2DB-477E-A078-2CCA8958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958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5803D"/>
                </a:solidFill>
              </a:defRPr>
            </a:pPr>
            <a:r>
              <a:rPr sz="1125" b="1" i="0">
                <a:solidFill>
                  <a:srgbClr val="15803D"/>
                </a:solidFill>
              </a:rPr>
              <a:t>PRODUCT GOVERNANCE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D4AD3C-C4B4-47A1-A35B-357B21DD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9587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803D"/>
                </a:solidFill>
              </a:defRPr>
            </a:pPr>
            <a:r>
              <a:rPr sz="1350" b="1" i="0">
                <a:solidFill>
                  <a:srgbClr val="15803D"/>
                </a:solidFill>
              </a:rPr>
              <a:t>PASS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8F3F71-27BB-4CC6-873C-A070F30C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095875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1F33"/>
                </a:solidFill>
              </a:defRPr>
            </a:pPr>
            <a:r>
              <a:rPr sz="1350" b="1" i="0">
                <a:solidFill>
                  <a:srgbClr val="081F33"/>
                </a:solidFill>
              </a:rPr>
              <a:t>Zero suppressed allocations and zero automated sale decisions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EC9F8A-724C-48DB-90B4-0E66CD97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820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154228-0FAD-4FD9-9F2D-DB499F84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34075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Every breach has an owner, threshold, evidence and management action; every customer conversation retains human ownership.</a:t>
            </a:r>
          </a:p>
        </p:txBody>
      </p:sp>
    </p:spTree>
    <p:extLst>
      <p:ext uri="{BB962C8B-B14F-4D97-AF65-F5344CB8AC3E}">
        <p14:creationId xmlns:p14="http://schemas.microsoft.com/office/powerpoint/2010/main" val="19619800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C56511-5455-473C-9A0F-C3212A5F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77A"/>
                </a:solidFill>
              </a:defRPr>
            </a:pPr>
            <a:r>
              <a:rPr sz="975" b="1" i="0">
                <a:solidFill>
                  <a:srgbClr val="5B677A"/>
                </a:solidFill>
              </a:rPr>
              <a:t>AURELIA BANK | SME RELATIONSHIP &amp; SALES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08B510-67E6-4BDE-9EA1-142DD9D6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B677A"/>
                </a:solidFill>
              </a:defRPr>
            </a:pPr>
            <a:r>
              <a:rPr sz="975" b="1" i="0">
                <a:solidFill>
                  <a:srgbClr val="5B677A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5E527E-E632-4171-A187-B896F339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2B3884-B331-4FEC-A846-57EFE9D7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77A"/>
                </a:solidFill>
              </a:defRPr>
            </a:pPr>
            <a:r>
              <a:rPr sz="825" b="0" i="0">
                <a:solidFill>
                  <a:srgbClr val="5B677A"/>
                </a:solidFill>
              </a:rPr>
              <a:t>Decision requested | owners, capacity and dates to be confirmed by management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40A9E6-9B3E-4170-9723-BE50E0BD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B677A"/>
                </a:solidFill>
              </a:defRPr>
            </a:pPr>
            <a:r>
              <a:rPr sz="825" b="0" i="0">
                <a:solidFill>
                  <a:srgbClr val="5B677A"/>
                </a:solidFill>
              </a:rPr>
              <a:t>20 AUG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7A18DB-C95C-48DE-A72F-2D91DCCE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81F33"/>
                </a:solidFill>
              </a:defRPr>
            </a:pPr>
            <a:r>
              <a:rPr sz="2925" b="1" i="0">
                <a:solidFill>
                  <a:srgbClr val="081F33"/>
                </a:solidFill>
              </a:rPr>
              <a:t>Approve a 90-day controlled relationship-sales pilot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E856DA-DDE4-4BCC-8646-39BF5358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77A"/>
                </a:solidFill>
              </a:defRPr>
            </a:pPr>
            <a:r>
              <a:rPr sz="1350" b="0" i="0">
                <a:solidFill>
                  <a:srgbClr val="5B677A"/>
                </a:solidFill>
              </a:rPr>
              <a:t>Prove incremental customer value first; scale only after KYC, conduct and realised-economics evidence remains satisfactory.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D01EA0-AF72-4DBC-82AF-BCAE2122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908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D74A39-8658-4E68-B5C4-07498935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76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511453-4EB5-4620-8491-4D354F68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5B677A"/>
                </a:solidFill>
              </a:defRPr>
            </a:pPr>
            <a:r>
              <a:rPr sz="1125" b="1" i="0">
                <a:solidFill>
                  <a:srgbClr val="5B677A"/>
                </a:solidFill>
              </a:rPr>
              <a:t>0–30 DAYS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AD2B0A-C7F2-46A5-90A1-AAE937A6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71850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81F33"/>
                </a:solidFill>
              </a:defRPr>
            </a:pPr>
            <a:r>
              <a:rPr sz="1725" b="1" i="0">
                <a:solidFill>
                  <a:srgbClr val="081F33"/>
                </a:solidFill>
              </a:rPr>
              <a:t>Prepare and remediate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5D4B4A-2B77-46DA-B010-A1DAFC87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00500"/>
            <a:ext cx="26289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081F33"/>
                </a:solidFill>
              </a:defRPr>
            </a:pPr>
            <a:r>
              <a:rPr sz="1500" b="0" i="0">
                <a:solidFill>
                  <a:srgbClr val="081F33"/>
                </a:solidFill>
              </a:rPr>
              <a:t>Clear priority KYC</a:t>
            </a:r>
          </a:p>
          <a:p xmlns:a="http://schemas.openxmlformats.org/drawingml/2006/main">
            <a:pPr algn="ctr">
              <a:defRPr sz="1500" b="0" i="0">
                <a:solidFill>
                  <a:srgbClr val="081F33"/>
                </a:solidFill>
              </a:defRPr>
            </a:pPr>
            <a:r>
              <a:rPr sz="1500" b="0" i="0">
                <a:solidFill>
                  <a:srgbClr val="081F33"/>
                </a:solidFill>
              </a:rPr>
              <a:t>Brief authorised RMs</a:t>
            </a:r>
          </a:p>
          <a:p xmlns:a="http://schemas.openxmlformats.org/drawingml/2006/main">
            <a:pPr algn="ctr">
              <a:defRPr sz="1500" b="0" i="0">
                <a:solidFill>
                  <a:srgbClr val="081F33"/>
                </a:solidFill>
              </a:defRPr>
            </a:pPr>
            <a:r>
              <a:rPr sz="1500" b="0" i="0">
                <a:solidFill>
                  <a:srgbClr val="081F33"/>
                </a:solidFill>
              </a:rPr>
              <a:t>Freeze assumptions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AC412E-9C90-41F4-A214-179F8EA4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76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CF4875-D15D-4BD7-AE21-9C9E1EC9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7645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5B677A"/>
                </a:solidFill>
              </a:defRPr>
            </a:pPr>
            <a:r>
              <a:rPr sz="1125" b="1" i="0">
                <a:solidFill>
                  <a:srgbClr val="5B677A"/>
                </a:solidFill>
              </a:rPr>
              <a:t>31–60 DAYS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BF86A3-D4B5-4FA6-B4CC-23298080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71850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81F33"/>
                </a:solidFill>
              </a:defRPr>
            </a:pPr>
            <a:r>
              <a:rPr sz="1725" b="1" i="0">
                <a:solidFill>
                  <a:srgbClr val="081F33"/>
                </a:solidFill>
              </a:rPr>
              <a:t>Run holdout pilot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B8CEF5-24E9-4F4B-8A28-58B065F3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00500"/>
            <a:ext cx="26289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081F33"/>
                </a:solidFill>
              </a:defRPr>
            </a:pPr>
            <a:r>
              <a:rPr sz="1500" b="0" i="0">
                <a:solidFill>
                  <a:srgbClr val="081F33"/>
                </a:solidFill>
              </a:rPr>
              <a:t>Launch 661 queue</a:t>
            </a:r>
          </a:p>
          <a:p xmlns:a="http://schemas.openxmlformats.org/drawingml/2006/main">
            <a:pPr algn="ctr">
              <a:defRPr sz="1500" b="0" i="0">
                <a:solidFill>
                  <a:srgbClr val="081F33"/>
                </a:solidFill>
              </a:defRPr>
            </a:pPr>
            <a:r>
              <a:rPr sz="1500" b="0" i="0">
                <a:solidFill>
                  <a:srgbClr val="081F33"/>
                </a:solidFill>
              </a:rPr>
              <a:t>Preserve control group</a:t>
            </a:r>
          </a:p>
          <a:p xmlns:a="http://schemas.openxmlformats.org/drawingml/2006/main">
            <a:pPr algn="ctr">
              <a:defRPr sz="1500" b="0" i="0">
                <a:solidFill>
                  <a:srgbClr val="081F33"/>
                </a:solidFill>
              </a:defRPr>
            </a:pPr>
            <a:r>
              <a:rPr sz="1500" b="0" i="0">
                <a:solidFill>
                  <a:srgbClr val="081F33"/>
                </a:solidFill>
              </a:rPr>
              <a:t>Capture need + outcome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445C7E-87B2-40E8-999E-DA2868DD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76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9AFDCE-A5A4-4CAD-918B-6ED7ADD8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7645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5B677A"/>
                </a:solidFill>
              </a:defRPr>
            </a:pPr>
            <a:r>
              <a:rPr sz="1125" b="1" i="0">
                <a:solidFill>
                  <a:srgbClr val="5B677A"/>
                </a:solidFill>
              </a:rPr>
              <a:t>61–90 DAYS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EB58EA-76C1-4F55-87DE-82B8AE57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71850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81F33"/>
                </a:solidFill>
              </a:defRPr>
            </a:pPr>
            <a:r>
              <a:rPr sz="1725" b="1" i="0">
                <a:solidFill>
                  <a:srgbClr val="081F33"/>
                </a:solidFill>
              </a:rPr>
              <a:t>Validate and scale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2F027F-3BA9-4354-8F2F-59C27D90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00500"/>
            <a:ext cx="26289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081F33"/>
                </a:solidFill>
              </a:defRPr>
            </a:pPr>
            <a:r>
              <a:rPr sz="1500" b="0" i="0">
                <a:solidFill>
                  <a:srgbClr val="081F33"/>
                </a:solidFill>
              </a:rPr>
              <a:t>Reconcile realised value</a:t>
            </a:r>
          </a:p>
          <a:p xmlns:a="http://schemas.openxmlformats.org/drawingml/2006/main">
            <a:pPr algn="ctr">
              <a:defRPr sz="1500" b="0" i="0">
                <a:solidFill>
                  <a:srgbClr val="081F33"/>
                </a:solidFill>
              </a:defRPr>
            </a:pPr>
            <a:r>
              <a:rPr sz="1500" b="0" i="0">
                <a:solidFill>
                  <a:srgbClr val="081F33"/>
                </a:solidFill>
              </a:rPr>
              <a:t>Challenge conduct gaps</a:t>
            </a:r>
          </a:p>
          <a:p xmlns:a="http://schemas.openxmlformats.org/drawingml/2006/main">
            <a:pPr algn="ctr">
              <a:defRPr sz="1500" b="0" i="0">
                <a:solidFill>
                  <a:srgbClr val="081F33"/>
                </a:solidFill>
              </a:defRPr>
            </a:pPr>
            <a:r>
              <a:rPr sz="1500" b="0" i="0">
                <a:solidFill>
                  <a:srgbClr val="081F33"/>
                </a:solidFill>
              </a:rPr>
              <a:t>Approve model changes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26351B-36A5-4D68-AED7-CF2D0967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037810-7A03-4360-BB72-EF9491C0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9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DECISION | Approve the pilot, name Sales–KYC–Risk–Finance owners and review uplift, conduct, KYC and realised profit monthly.</a:t>
            </a:r>
          </a:p>
        </p:txBody>
      </p:sp>
    </p:spTree>
    <p:extLst>
      <p:ext uri="{BB962C8B-B14F-4D97-AF65-F5344CB8AC3E}">
        <p14:creationId xmlns:p14="http://schemas.microsoft.com/office/powerpoint/2010/main" val="13804622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2026-08-21T09:49:12.8790000Z</dcterms:created>
  <dcterms:modified xsi:type="dcterms:W3CDTF">2026-08-21T09:49:12.8790000Z</dcterms:modified>
</coreProperties>
</file>